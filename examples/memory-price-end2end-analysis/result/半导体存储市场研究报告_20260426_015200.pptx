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  <Default Extension="jp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1" d="100"/>
          <a:sy n="191" d="100"/>
        </p:scale>
        <p:origin x="168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服务器/存储/网络</c:v>
                </c:pt>
              </c:strCache>
            </c:strRef>
          </c:tx>
          <c:spPr>
            <a:ln w="25400" cap="flat">
              <a:solidFill>
                <a:srgbClr val="C5A0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5A059"/>
              </a:solidFill>
              <a:ln w="9525" cap="flat">
                <a:solidFill>
                  <a:srgbClr val="C5A059"/>
                </a:solidFill>
                <a:prstDash val="solid"/>
                <a:round/>
              </a:ln>
              <a:effectLst/>
            </c:spPr>
          </c:marker>
          <c:cat>
            <c:strRef>
              <c:f>Sheet1!$A$2:$A$10</c:f>
              <c:strCache>
                <c:ptCount val="9"/>
                <c:pt idx="0">
                  <c:v>2022</c:v>
                </c:pt>
                <c:pt idx="1">
                  <c:v>2023</c:v>
                </c:pt>
                <c:pt idx="2">
                  <c:v>2024E</c:v>
                </c:pt>
                <c:pt idx="3">
                  <c:v>2025E</c:v>
                </c:pt>
                <c:pt idx="4">
                  <c:v>2026E</c:v>
                </c:pt>
                <c:pt idx="5">
                  <c:v>2027E</c:v>
                </c:pt>
                <c:pt idx="6">
                  <c:v>2028E</c:v>
                </c:pt>
                <c:pt idx="7">
                  <c:v>2029E</c:v>
                </c:pt>
                <c:pt idx="8">
                  <c:v>2030E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</c:v>
                </c:pt>
                <c:pt idx="1">
                  <c:v>0.8</c:v>
                </c:pt>
                <c:pt idx="2">
                  <c:v>1.2</c:v>
                </c:pt>
                <c:pt idx="3">
                  <c:v>1.6</c:v>
                </c:pt>
                <c:pt idx="4">
                  <c:v>2</c:v>
                </c:pt>
                <c:pt idx="5">
                  <c:v>2.4</c:v>
                </c:pt>
                <c:pt idx="6">
                  <c:v>2.8</c:v>
                </c:pt>
                <c:pt idx="7">
                  <c:v>3</c:v>
                </c:pt>
                <c:pt idx="8">
                  <c:v>3.3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2E1-4EE1-BE87-98AF4007D0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T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6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angbo4/.openclaw/workspace/ppt_decks/半导体存储市场研究报告_20260426_015200/images/page_001_hero.png"/>
          <p:cNvPicPr>
            <a:picLocks noChangeAspect="1"/>
          </p:cNvPicPr>
          <p:nvPr/>
        </p:nvPicPr>
        <p:blipFill>
          <a:blip r:embed="rId3"/>
          <a:srcRect l="20233" r="20233"/>
          <a:stretch/>
        </p:blipFill>
        <p:spPr>
          <a:xfrm>
            <a:off x="0" y="0"/>
            <a:ext cx="54864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gradFill rotWithShape="1">
            <a:gsLst>
              <a:gs pos="0">
                <a:srgbClr val="121212">
                  <a:alpha val="20000"/>
                </a:srgbClr>
              </a:gs>
              <a:gs pos="100000">
                <a:srgbClr val="121212">
                  <a:alpha val="6000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212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2"/>
          <p:cNvSpPr/>
          <p:nvPr/>
        </p:nvSpPr>
        <p:spPr>
          <a:xfrm>
            <a:off x="8823960" y="342900"/>
            <a:ext cx="34290" cy="34290"/>
          </a:xfrm>
          <a:prstGeom prst="ellipse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5772150" y="342900"/>
            <a:ext cx="342900" cy="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4"/>
          <p:cNvSpPr/>
          <p:nvPr/>
        </p:nvSpPr>
        <p:spPr>
          <a:xfrm>
            <a:off x="5772150" y="514350"/>
            <a:ext cx="840105" cy="194310"/>
          </a:xfrm>
          <a:prstGeom prst="rect">
            <a:avLst/>
          </a:prstGeom>
          <a:noFill/>
          <a:ln w="571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772150" y="514350"/>
            <a:ext cx="940918" cy="194310"/>
          </a:xfrm>
          <a:prstGeom prst="rect">
            <a:avLst/>
          </a:prstGeom>
          <a:noFill/>
          <a:ln/>
        </p:spPr>
        <p:txBody>
          <a:bodyPr wrap="square" lIns="34290" tIns="91440" rIns="91440" bIns="34290" rtlCol="0" anchor="ctr"/>
          <a:lstStyle/>
          <a:p>
            <a:pPr marL="0" indent="0" algn="l">
              <a:buNone/>
            </a:pPr>
            <a:r>
              <a:rPr lang="en-US" sz="630" kern="0" spc="90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封面 / 深度报告</a:t>
            </a:r>
            <a:endParaRPr lang="en-US" sz="630" dirty="0"/>
          </a:p>
        </p:txBody>
      </p:sp>
      <p:sp>
        <p:nvSpPr>
          <p:cNvPr id="9" name="Text 6"/>
          <p:cNvSpPr/>
          <p:nvPr/>
        </p:nvSpPr>
        <p:spPr>
          <a:xfrm>
            <a:off x="5772150" y="937260"/>
            <a:ext cx="3456432" cy="6572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070" b="1" kern="0" spc="45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Q1 半导体存储</a:t>
            </a:r>
            <a:endParaRPr lang="en-US" sz="207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070" b="1" kern="0" spc="45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市场深度报告</a:t>
            </a:r>
            <a:endParaRPr lang="en-US" sz="2070" dirty="0"/>
          </a:p>
        </p:txBody>
      </p:sp>
      <p:sp>
        <p:nvSpPr>
          <p:cNvPr id="10" name="Text 7"/>
          <p:cNvSpPr/>
          <p:nvPr/>
        </p:nvSpPr>
        <p:spPr>
          <a:xfrm>
            <a:off x="5772150" y="1708785"/>
            <a:ext cx="3456432" cy="16457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810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四十年一遇的价格暴涨：AI 基础设施与供给刚性的结构性错配</a:t>
            </a:r>
            <a:endParaRPr lang="en-US" sz="810" dirty="0"/>
          </a:p>
        </p:txBody>
      </p:sp>
      <p:sp>
        <p:nvSpPr>
          <p:cNvPr id="11" name="Shape 8"/>
          <p:cNvSpPr/>
          <p:nvPr/>
        </p:nvSpPr>
        <p:spPr>
          <a:xfrm>
            <a:off x="5772150" y="2101959"/>
            <a:ext cx="3086100" cy="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5772150" y="2273409"/>
            <a:ext cx="3086100" cy="50515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5772150" y="2273409"/>
            <a:ext cx="0" cy="505152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5903595" y="2364849"/>
            <a:ext cx="3181198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45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DRAM 合约价暴涨</a:t>
            </a:r>
            <a:endParaRPr lang="en-US" sz="810" dirty="0"/>
          </a:p>
        </p:txBody>
      </p:sp>
      <p:sp>
        <p:nvSpPr>
          <p:cNvPr id="15" name="Text 12"/>
          <p:cNvSpPr/>
          <p:nvPr/>
        </p:nvSpPr>
        <p:spPr>
          <a:xfrm>
            <a:off x="5903595" y="2559159"/>
            <a:ext cx="3181198" cy="12796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3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 年 Q1 涨幅达 90-95%，创历史新高</a:t>
            </a:r>
            <a:endParaRPr lang="en-US" sz="630" dirty="0"/>
          </a:p>
        </p:txBody>
      </p:sp>
      <p:sp>
        <p:nvSpPr>
          <p:cNvPr id="16" name="Shape 13"/>
          <p:cNvSpPr/>
          <p:nvPr/>
        </p:nvSpPr>
        <p:spPr>
          <a:xfrm>
            <a:off x="5772150" y="2892862"/>
            <a:ext cx="3086100" cy="50515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5772150" y="2892862"/>
            <a:ext cx="0" cy="505152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5903595" y="2984302"/>
            <a:ext cx="3181198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45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NAND Flash 跟涨</a:t>
            </a:r>
            <a:endParaRPr lang="en-US" sz="810" dirty="0"/>
          </a:p>
        </p:txBody>
      </p:sp>
      <p:sp>
        <p:nvSpPr>
          <p:cNvPr id="19" name="Text 16"/>
          <p:cNvSpPr/>
          <p:nvPr/>
        </p:nvSpPr>
        <p:spPr>
          <a:xfrm>
            <a:off x="5903595" y="3178612"/>
            <a:ext cx="3181198" cy="12796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3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单季度涨幅 55-60%，部分现货 12 个月涨超 2200%</a:t>
            </a:r>
            <a:endParaRPr lang="en-US" sz="630" dirty="0"/>
          </a:p>
        </p:txBody>
      </p:sp>
      <p:sp>
        <p:nvSpPr>
          <p:cNvPr id="20" name="Shape 17"/>
          <p:cNvSpPr/>
          <p:nvPr/>
        </p:nvSpPr>
        <p:spPr>
          <a:xfrm>
            <a:off x="5772150" y="3512314"/>
            <a:ext cx="3086100" cy="50515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5772150" y="3512314"/>
            <a:ext cx="0" cy="505152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5903595" y="3603754"/>
            <a:ext cx="3181198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45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核心驱动力</a:t>
            </a:r>
            <a:endParaRPr lang="en-US" sz="810" dirty="0"/>
          </a:p>
        </p:txBody>
      </p:sp>
      <p:sp>
        <p:nvSpPr>
          <p:cNvPr id="23" name="Text 20"/>
          <p:cNvSpPr/>
          <p:nvPr/>
        </p:nvSpPr>
        <p:spPr>
          <a:xfrm>
            <a:off x="5903595" y="3798064"/>
            <a:ext cx="3181198" cy="12796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3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服务器需求是传统服务器的 5-10 倍，HBM 产能严重挤压常规存储</a:t>
            </a:r>
            <a:endParaRPr lang="en-US" sz="630" dirty="0"/>
          </a:p>
        </p:txBody>
      </p:sp>
      <p:sp>
        <p:nvSpPr>
          <p:cNvPr id="24" name="Shape 21"/>
          <p:cNvSpPr/>
          <p:nvPr/>
        </p:nvSpPr>
        <p:spPr>
          <a:xfrm>
            <a:off x="5772150" y="4017466"/>
            <a:ext cx="3086100" cy="938332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5772150" y="4017466"/>
            <a:ext cx="30861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3"/>
          <p:cNvSpPr/>
          <p:nvPr/>
        </p:nvSpPr>
        <p:spPr>
          <a:xfrm>
            <a:off x="5772150" y="4160341"/>
            <a:ext cx="118872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2026.01-04</a:t>
            </a:r>
            <a:endParaRPr lang="en-US" sz="1260" dirty="0"/>
          </a:p>
        </p:txBody>
      </p:sp>
      <p:sp>
        <p:nvSpPr>
          <p:cNvPr id="27" name="Text 24"/>
          <p:cNvSpPr/>
          <p:nvPr/>
        </p:nvSpPr>
        <p:spPr>
          <a:xfrm>
            <a:off x="5772150" y="4354651"/>
            <a:ext cx="1152144" cy="9599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数据时间范围</a:t>
            </a:r>
            <a:endParaRPr lang="en-US" sz="540" dirty="0"/>
          </a:p>
        </p:txBody>
      </p:sp>
      <p:sp>
        <p:nvSpPr>
          <p:cNvPr id="28" name="Text 25"/>
          <p:cNvSpPr/>
          <p:nvPr/>
        </p:nvSpPr>
        <p:spPr>
          <a:xfrm>
            <a:off x="6800850" y="4160341"/>
            <a:ext cx="118872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85.7%</a:t>
            </a:r>
            <a:endParaRPr lang="en-US" sz="1260" dirty="0"/>
          </a:p>
        </p:txBody>
      </p:sp>
      <p:sp>
        <p:nvSpPr>
          <p:cNvPr id="29" name="Text 26"/>
          <p:cNvSpPr/>
          <p:nvPr/>
        </p:nvSpPr>
        <p:spPr>
          <a:xfrm>
            <a:off x="6800850" y="4354651"/>
            <a:ext cx="1152144" cy="191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价格上涨产品占比</a:t>
            </a:r>
            <a:endParaRPr lang="en-US" sz="54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(66种/77种)</a:t>
            </a:r>
            <a:endParaRPr lang="en-US" sz="540" dirty="0"/>
          </a:p>
        </p:txBody>
      </p:sp>
      <p:sp>
        <p:nvSpPr>
          <p:cNvPr id="30" name="Text 27"/>
          <p:cNvSpPr/>
          <p:nvPr/>
        </p:nvSpPr>
        <p:spPr>
          <a:xfrm>
            <a:off x="7829550" y="4160341"/>
            <a:ext cx="118872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93%</a:t>
            </a:r>
            <a:endParaRPr lang="en-US" sz="1260" dirty="0"/>
          </a:p>
        </p:txBody>
      </p:sp>
      <p:sp>
        <p:nvSpPr>
          <p:cNvPr id="31" name="Text 28"/>
          <p:cNvSpPr/>
          <p:nvPr/>
        </p:nvSpPr>
        <p:spPr>
          <a:xfrm>
            <a:off x="7829550" y="4354651"/>
            <a:ext cx="1152144" cy="191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三大原厂 DRAM 份额</a:t>
            </a:r>
            <a:endParaRPr lang="en-US" sz="54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A0A0A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(SK/Samsung/Micron)</a:t>
            </a:r>
            <a:endParaRPr lang="en-US" sz="540" dirty="0"/>
          </a:p>
        </p:txBody>
      </p:sp>
      <p:sp>
        <p:nvSpPr>
          <p:cNvPr id="32" name="Shape 29"/>
          <p:cNvSpPr/>
          <p:nvPr/>
        </p:nvSpPr>
        <p:spPr>
          <a:xfrm>
            <a:off x="5772150" y="4683800"/>
            <a:ext cx="3086100" cy="27199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5772150" y="4683800"/>
            <a:ext cx="0" cy="271998"/>
          </a:xfrm>
          <a:prstGeom prst="line">
            <a:avLst/>
          </a:prstGeom>
          <a:noFill/>
          <a:ln w="1143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5772150" y="4683800"/>
            <a:ext cx="3456432" cy="271998"/>
          </a:xfrm>
          <a:prstGeom prst="rect">
            <a:avLst/>
          </a:prstGeom>
          <a:noFill/>
          <a:ln/>
        </p:spPr>
        <p:txBody>
          <a:bodyPr wrap="square" lIns="0" tIns="91440" rIns="0" bIns="0" rtlCol="0" anchor="ctr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630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China Flash Market 1835 条渠道数据，揭示本轮暴涨是 AI 基础设施长期资本开支与供给刚性之间的结构性失衡，而非投机泡沫。</a:t>
            </a:r>
            <a:endParaRPr lang="en-US" sz="6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2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1340168"/>
            <a:ext cx="2329891" cy="914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r">
              <a:buNone/>
            </a:pPr>
            <a:r>
              <a:rPr lang="en-US" sz="585" kern="0" spc="90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PANORAMA / DIVIDER COMPOSITION</a:t>
            </a:r>
            <a:endParaRPr lang="en-US" sz="585" dirty="0"/>
          </a:p>
        </p:txBody>
      </p:sp>
      <p:pic>
        <p:nvPicPr>
          <p:cNvPr id="4" name="Image 1" descr="/home/wangbo4/.openclaw/workspace/ppt_decks/半导体存储市场研究报告_20260426_015200/images/page_002_divider.png"/>
          <p:cNvPicPr>
            <a:picLocks noChangeAspect="1"/>
          </p:cNvPicPr>
          <p:nvPr/>
        </p:nvPicPr>
        <p:blipFill>
          <a:blip r:embed="rId5"/>
          <a:srcRect l="100" r="100"/>
          <a:stretch/>
        </p:blipFill>
        <p:spPr>
          <a:xfrm>
            <a:off x="457200" y="1660208"/>
            <a:ext cx="3086100" cy="172593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857500" y="3614738"/>
            <a:ext cx="685800" cy="5715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2"/>
          <p:cNvSpPr/>
          <p:nvPr/>
        </p:nvSpPr>
        <p:spPr>
          <a:xfrm>
            <a:off x="2628900" y="3711893"/>
            <a:ext cx="914400" cy="9144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3"/>
          <p:cNvSpPr/>
          <p:nvPr/>
        </p:nvSpPr>
        <p:spPr>
          <a:xfrm>
            <a:off x="4343400" y="1116747"/>
            <a:ext cx="4864608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kern="0" spc="180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01</a:t>
            </a:r>
            <a:endParaRPr lang="en-US" sz="720" dirty="0"/>
          </a:p>
        </p:txBody>
      </p:sp>
      <p:sp>
        <p:nvSpPr>
          <p:cNvPr id="8" name="Text 4"/>
          <p:cNvSpPr/>
          <p:nvPr/>
        </p:nvSpPr>
        <p:spPr>
          <a:xfrm>
            <a:off x="4343400" y="1368207"/>
            <a:ext cx="4864608" cy="40228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80" b="1" kern="0" spc="45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市场全景</a:t>
            </a:r>
            <a:endParaRPr lang="en-US" sz="2880" dirty="0"/>
          </a:p>
        </p:txBody>
      </p:sp>
      <p:sp>
        <p:nvSpPr>
          <p:cNvPr id="9" name="Text 5"/>
          <p:cNvSpPr/>
          <p:nvPr/>
        </p:nvSpPr>
        <p:spPr>
          <a:xfrm>
            <a:off x="4343400" y="1907649"/>
            <a:ext cx="4352544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900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Q1-Q2 价格数据解读与整体走势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343400" y="2376279"/>
            <a:ext cx="4343400" cy="54739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7"/>
          <p:cNvSpPr/>
          <p:nvPr/>
        </p:nvSpPr>
        <p:spPr>
          <a:xfrm>
            <a:off x="4343400" y="2376279"/>
            <a:ext cx="4343400" cy="0"/>
          </a:xfrm>
          <a:prstGeom prst="line">
            <a:avLst/>
          </a:prstGeom>
          <a:noFill/>
          <a:ln w="5715">
            <a:solidFill>
              <a:srgbClr val="C9A96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4343400" y="2553444"/>
            <a:ext cx="4864608" cy="3702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81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市场进入</a:t>
            </a:r>
            <a:r>
              <a:rPr lang="en-US" sz="810" b="1" dirty="0">
                <a:solidFill>
                  <a:srgbClr val="F4F1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极度分化</a:t>
            </a:r>
            <a:r>
              <a:rPr lang="en-US" sz="81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阶段：移动端与 AI 存储需求持续强劲，而传统 PC 渠道因需求疲软出现价格回调。</a:t>
            </a:r>
            <a:endParaRPr lang="en-US" sz="810" dirty="0"/>
          </a:p>
        </p:txBody>
      </p:sp>
      <p:sp>
        <p:nvSpPr>
          <p:cNvPr id="13" name="Shape 9"/>
          <p:cNvSpPr/>
          <p:nvPr/>
        </p:nvSpPr>
        <p:spPr>
          <a:xfrm>
            <a:off x="4343400" y="3209419"/>
            <a:ext cx="1371600" cy="817245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0"/>
          <p:cNvSpPr/>
          <p:nvPr/>
        </p:nvSpPr>
        <p:spPr>
          <a:xfrm>
            <a:off x="4343400" y="3209419"/>
            <a:ext cx="22860" cy="805815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1"/>
          <p:cNvSpPr/>
          <p:nvPr/>
        </p:nvSpPr>
        <p:spPr>
          <a:xfrm>
            <a:off x="4474845" y="3460879"/>
            <a:ext cx="617220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+32.22%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4463415" y="3660904"/>
            <a:ext cx="1267358" cy="2228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585" kern="0" spc="23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涨幅</a:t>
            </a:r>
            <a:endParaRPr lang="en-US" sz="58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540" kern="0" spc="23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种产品全线上涨</a:t>
            </a:r>
            <a:endParaRPr lang="en-US" sz="585" dirty="0"/>
          </a:p>
        </p:txBody>
      </p:sp>
      <p:sp>
        <p:nvSpPr>
          <p:cNvPr id="17" name="Shape 13"/>
          <p:cNvSpPr/>
          <p:nvPr/>
        </p:nvSpPr>
        <p:spPr>
          <a:xfrm>
            <a:off x="5829300" y="3209419"/>
            <a:ext cx="1371600" cy="817245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4"/>
          <p:cNvSpPr/>
          <p:nvPr/>
        </p:nvSpPr>
        <p:spPr>
          <a:xfrm>
            <a:off x="5829300" y="3209419"/>
            <a:ext cx="22860" cy="805815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5"/>
          <p:cNvSpPr/>
          <p:nvPr/>
        </p:nvSpPr>
        <p:spPr>
          <a:xfrm>
            <a:off x="5960745" y="3460879"/>
            <a:ext cx="617220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+25.33%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5949315" y="3660904"/>
            <a:ext cx="1267358" cy="2228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585" kern="0" spc="23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移动存储涨幅</a:t>
            </a:r>
            <a:endParaRPr lang="en-US" sz="58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540" kern="0" spc="23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MICROSD 领涨</a:t>
            </a:r>
            <a:endParaRPr lang="en-US" sz="585" dirty="0"/>
          </a:p>
        </p:txBody>
      </p:sp>
      <p:sp>
        <p:nvSpPr>
          <p:cNvPr id="21" name="Shape 17"/>
          <p:cNvSpPr/>
          <p:nvPr/>
        </p:nvSpPr>
        <p:spPr>
          <a:xfrm>
            <a:off x="7315200" y="3209419"/>
            <a:ext cx="1371600" cy="817245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18"/>
          <p:cNvSpPr/>
          <p:nvPr/>
        </p:nvSpPr>
        <p:spPr>
          <a:xfrm>
            <a:off x="7315200" y="3209419"/>
            <a:ext cx="22860" cy="805815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19"/>
          <p:cNvSpPr/>
          <p:nvPr/>
        </p:nvSpPr>
        <p:spPr>
          <a:xfrm>
            <a:off x="7446645" y="3460879"/>
            <a:ext cx="571500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-16.00%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435215" y="3660904"/>
            <a:ext cx="1267358" cy="2228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585" kern="0" spc="23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PC 跌幅</a:t>
            </a:r>
            <a:endParaRPr lang="en-US" sz="58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540" kern="0" spc="23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DDR4 UDIMM 8GB 3200</a:t>
            </a:r>
            <a:endParaRPr lang="en-US" sz="58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E8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342900"/>
            <a:ext cx="571500" cy="205740"/>
          </a:xfrm>
          <a:prstGeom prst="roundRect">
            <a:avLst>
              <a:gd name="adj" fmla="val 5556"/>
            </a:avLst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42900" y="342900"/>
            <a:ext cx="662940" cy="205740"/>
          </a:xfrm>
          <a:prstGeom prst="rect">
            <a:avLst/>
          </a:prstGeom>
          <a:noFill/>
          <a:ln/>
        </p:spPr>
        <p:txBody>
          <a:bodyPr wrap="none" lIns="34290" tIns="80010" rIns="80010" bIns="34290" rtlCol="0" anchor="ctr"/>
          <a:lstStyle/>
          <a:p>
            <a:pPr marL="0" indent="0" algn="l">
              <a:buNone/>
            </a:pPr>
            <a:r>
              <a:rPr lang="en-US" sz="720" b="1" kern="0" spc="9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市场走势</a:t>
            </a:r>
            <a:endParaRPr lang="en-US" sz="720" dirty="0"/>
          </a:p>
        </p:txBody>
      </p:sp>
      <p:sp>
        <p:nvSpPr>
          <p:cNvPr id="4" name="Text 2"/>
          <p:cNvSpPr/>
          <p:nvPr/>
        </p:nvSpPr>
        <p:spPr>
          <a:xfrm>
            <a:off x="342900" y="662940"/>
            <a:ext cx="5120640" cy="3291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60" b="1" kern="0" spc="45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整体市场走势统计</a:t>
            </a:r>
            <a:endParaRPr lang="en-US" sz="2160" dirty="0"/>
          </a:p>
        </p:txBody>
      </p:sp>
      <p:sp>
        <p:nvSpPr>
          <p:cNvPr id="5" name="Text 3"/>
          <p:cNvSpPr/>
          <p:nvPr/>
        </p:nvSpPr>
        <p:spPr>
          <a:xfrm>
            <a:off x="8223885" y="400050"/>
            <a:ext cx="680085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45" dirty="0">
                <a:solidFill>
                  <a:srgbClr val="C9A96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03 / 数据页</a:t>
            </a:r>
            <a:endParaRPr lang="en-US" sz="810" dirty="0"/>
          </a:p>
        </p:txBody>
      </p:sp>
      <p:sp>
        <p:nvSpPr>
          <p:cNvPr id="6" name="Shape 4"/>
          <p:cNvSpPr/>
          <p:nvPr/>
        </p:nvSpPr>
        <p:spPr>
          <a:xfrm>
            <a:off x="342900" y="1220688"/>
            <a:ext cx="4572000" cy="2263140"/>
          </a:xfrm>
          <a:prstGeom prst="rect">
            <a:avLst/>
          </a:prstGeom>
          <a:solidFill>
            <a:srgbClr val="FFFFFF"/>
          </a:solidFill>
          <a:ln w="5715">
            <a:solidFill>
              <a:srgbClr val="E0E0E0"/>
            </a:solidFill>
            <a:prstDash val="solid"/>
          </a:ln>
          <a:effectLst>
            <a:outerShdw blurRad="285750" dist="9525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7" name="Image 0" descr="/home/wangbo4/.openclaw/workspace/ppt_decks/半导体存储市场研究报告_20260426_015200/images/page_003_inherited.png"/>
          <p:cNvPicPr>
            <a:picLocks noChangeAspect="1"/>
          </p:cNvPicPr>
          <p:nvPr/>
        </p:nvPicPr>
        <p:blipFill>
          <a:blip r:embed="rId3"/>
          <a:srcRect t="123" b="123"/>
          <a:stretch/>
        </p:blipFill>
        <p:spPr>
          <a:xfrm>
            <a:off x="348615" y="1226403"/>
            <a:ext cx="4560570" cy="22517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" y="3575268"/>
            <a:ext cx="5120640" cy="1200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7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图：各类产品价格变动（柱状对比）</a:t>
            </a:r>
            <a:endParaRPr lang="en-US" sz="675" dirty="0"/>
          </a:p>
        </p:txBody>
      </p:sp>
      <p:sp>
        <p:nvSpPr>
          <p:cNvPr id="9" name="Shape 6"/>
          <p:cNvSpPr/>
          <p:nvPr/>
        </p:nvSpPr>
        <p:spPr>
          <a:xfrm>
            <a:off x="342900" y="3575268"/>
            <a:ext cx="22860" cy="8001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257800" y="1277838"/>
            <a:ext cx="3968496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b="1" kern="0" spc="90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核心数据与结论</a:t>
            </a:r>
            <a:endParaRPr lang="en-US" sz="585" dirty="0"/>
          </a:p>
        </p:txBody>
      </p:sp>
      <p:sp>
        <p:nvSpPr>
          <p:cNvPr id="11" name="Shape 8"/>
          <p:cNvSpPr/>
          <p:nvPr/>
        </p:nvSpPr>
        <p:spPr>
          <a:xfrm>
            <a:off x="5257800" y="1523583"/>
            <a:ext cx="35433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42875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5257800" y="1523583"/>
            <a:ext cx="0" cy="1005840"/>
          </a:xfrm>
          <a:prstGeom prst="line">
            <a:avLst/>
          </a:prstGeom>
          <a:noFill/>
          <a:ln w="3429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5463540" y="1660743"/>
            <a:ext cx="3546043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45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总记录数 / 覆盖范围</a:t>
            </a:r>
            <a:endParaRPr lang="en-US" sz="630" dirty="0"/>
          </a:p>
        </p:txBody>
      </p:sp>
      <p:sp>
        <p:nvSpPr>
          <p:cNvPr id="14" name="Text 11"/>
          <p:cNvSpPr/>
          <p:nvPr/>
        </p:nvSpPr>
        <p:spPr>
          <a:xfrm>
            <a:off x="5463540" y="1866483"/>
            <a:ext cx="1708785" cy="2400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9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1835</a:t>
            </a:r>
            <a:endParaRPr lang="en-US" sz="1890" dirty="0"/>
          </a:p>
        </p:txBody>
      </p:sp>
      <p:sp>
        <p:nvSpPr>
          <p:cNvPr id="15" name="Text 12"/>
          <p:cNvSpPr/>
          <p:nvPr/>
        </p:nvSpPr>
        <p:spPr>
          <a:xfrm>
            <a:off x="5463540" y="2152233"/>
            <a:ext cx="1645006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条有效记录</a:t>
            </a:r>
            <a:endParaRPr lang="en-US" sz="63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支撑本期走势判断</a:t>
            </a:r>
            <a:endParaRPr lang="en-US" sz="630" dirty="0"/>
          </a:p>
        </p:txBody>
      </p:sp>
      <p:sp>
        <p:nvSpPr>
          <p:cNvPr id="16" name="Text 13"/>
          <p:cNvSpPr/>
          <p:nvPr/>
        </p:nvSpPr>
        <p:spPr>
          <a:xfrm>
            <a:off x="7160895" y="1866483"/>
            <a:ext cx="1708785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9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r>
              <a:rPr lang="en-US" sz="90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类</a:t>
            </a:r>
            <a:endParaRPr lang="en-US" sz="1890" dirty="0"/>
          </a:p>
        </p:txBody>
      </p:sp>
      <p:sp>
        <p:nvSpPr>
          <p:cNvPr id="17" name="Text 14"/>
          <p:cNvSpPr/>
          <p:nvPr/>
        </p:nvSpPr>
        <p:spPr>
          <a:xfrm>
            <a:off x="7160895" y="2152233"/>
            <a:ext cx="1645006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 5 大品类</a:t>
            </a:r>
            <a:endParaRPr lang="en-US" sz="63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细分至 15 个子类</a:t>
            </a:r>
            <a:endParaRPr lang="en-US" sz="630" dirty="0"/>
          </a:p>
        </p:txBody>
      </p:sp>
      <p:sp>
        <p:nvSpPr>
          <p:cNvPr id="18" name="Shape 15"/>
          <p:cNvSpPr/>
          <p:nvPr/>
        </p:nvSpPr>
        <p:spPr>
          <a:xfrm>
            <a:off x="5257800" y="2666583"/>
            <a:ext cx="3543300" cy="1126034"/>
          </a:xfrm>
          <a:prstGeom prst="rect">
            <a:avLst/>
          </a:prstGeom>
          <a:solidFill>
            <a:srgbClr val="FFFFFF"/>
          </a:solidFill>
          <a:ln w="571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416532"/>
              </p:ext>
            </p:extLst>
          </p:nvPr>
        </p:nvGraphicFramePr>
        <p:xfrm>
          <a:off x="5263515" y="2672298"/>
          <a:ext cx="3531870" cy="1108888"/>
        </p:xfrm>
        <a:graphic>
          <a:graphicData uri="http://schemas.openxmlformats.org/drawingml/2006/table">
            <a:tbl>
              <a:tblPr/>
              <a:tblGrid>
                <a:gridCol w="1177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72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333333"/>
                          </a:solidFill>
                        </a:rPr>
                        <a:t>统计项</a:t>
                      </a:r>
                      <a:endParaRPr lang="en-US" sz="675" dirty="0"/>
                    </a:p>
                  </a:txBody>
                  <a:tcPr anchor="ctr">
                    <a:lnL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333333"/>
                          </a:solidFill>
                        </a:rPr>
                        <a:t>数值</a:t>
                      </a:r>
                      <a:endParaRPr lang="en-US" sz="675" dirty="0"/>
                    </a:p>
                  </a:txBody>
                  <a:tcPr anchor="ctr">
                    <a:lnL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333333"/>
                          </a:solidFill>
                        </a:rPr>
                        <a:t>占比</a:t>
                      </a:r>
                      <a:endParaRPr lang="en-US" sz="675" dirty="0"/>
                    </a:p>
                  </a:txBody>
                  <a:tcPr anchor="ctr">
                    <a:lnL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2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价格上涨产品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E53935"/>
                          </a:solidFill>
                        </a:rPr>
                        <a:t>66 种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E53935"/>
                          </a:solidFill>
                        </a:rPr>
                        <a:t>85.7%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2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价格持平产品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11 种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14.3%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2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价格下跌产品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6 种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0F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5257800" y="3929777"/>
            <a:ext cx="3543300" cy="7622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7"/>
          <p:cNvSpPr/>
          <p:nvPr/>
        </p:nvSpPr>
        <p:spPr>
          <a:xfrm>
            <a:off x="5257800" y="3929777"/>
            <a:ext cx="0" cy="762238"/>
          </a:xfrm>
          <a:prstGeom prst="line">
            <a:avLst/>
          </a:prstGeom>
          <a:noFill/>
          <a:ln w="3429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8"/>
          <p:cNvSpPr/>
          <p:nvPr/>
        </p:nvSpPr>
        <p:spPr>
          <a:xfrm>
            <a:off x="5463540" y="4066937"/>
            <a:ext cx="3546043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b="1" kern="0" spc="90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叙事说明</a:t>
            </a:r>
            <a:endParaRPr lang="en-US" sz="585" dirty="0"/>
          </a:p>
        </p:txBody>
      </p:sp>
      <p:sp>
        <p:nvSpPr>
          <p:cNvPr id="23" name="Text 19"/>
          <p:cNvSpPr/>
          <p:nvPr/>
        </p:nvSpPr>
        <p:spPr>
          <a:xfrm>
            <a:off x="5463540" y="4244102"/>
            <a:ext cx="3546043" cy="3107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720" dirty="0">
                <a:solidFill>
                  <a:srgbClr val="E0E0E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渠道数据验证了行业机构对 DRAM 和 NAND 涨价的预测，但渠道市场存在滞后效应，实际涨幅低于合约价预测。</a:t>
            </a:r>
            <a:endParaRPr lang="en-US" sz="720" dirty="0"/>
          </a:p>
        </p:txBody>
      </p:sp>
      <p:sp>
        <p:nvSpPr>
          <p:cNvPr id="24" name="Text 20"/>
          <p:cNvSpPr/>
          <p:nvPr/>
        </p:nvSpPr>
        <p:spPr>
          <a:xfrm>
            <a:off x="342900" y="4692015"/>
            <a:ext cx="9473184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23" dirty="0">
                <a:solidFill>
                  <a:srgbClr val="99999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注：图表与表格为本期统计口径下的汇总表达，用于支撑“价格上涨为主、涨幅分化”的核心结论。</a:t>
            </a:r>
            <a:endParaRPr lang="en-US" sz="58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2000"/>
                </a:srgbClr>
              </a:gs>
              <a:gs pos="25000">
                <a:srgbClr val="000000">
                  <a:alpha val="0"/>
                </a:srgbClr>
              </a:gs>
              <a:gs pos="50000">
                <a:srgbClr val="000000"/>
              </a:gs>
              <a:gs pos="75000">
                <a:srgbClr val="000000">
                  <a:alpha val="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457200" y="285750"/>
            <a:ext cx="342900" cy="2286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285750"/>
            <a:ext cx="9217152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720" kern="0" spc="27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 PRICE WATCH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457200" y="468630"/>
            <a:ext cx="9217152" cy="3520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520" b="1" kern="0" spc="9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涨幅最大 TOP 5 产品</a:t>
            </a:r>
            <a:endParaRPr lang="en-US" sz="2520" dirty="0"/>
          </a:p>
        </p:txBody>
      </p:sp>
      <p:sp>
        <p:nvSpPr>
          <p:cNvPr id="7" name="Text 5"/>
          <p:cNvSpPr/>
          <p:nvPr/>
        </p:nvSpPr>
        <p:spPr>
          <a:xfrm>
            <a:off x="457200" y="889218"/>
            <a:ext cx="9217152" cy="17145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990" kern="0" spc="45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LPDDR4X 与 QLC Flash 晶圆领涨</a:t>
            </a:r>
            <a:endParaRPr lang="en-US" sz="990" dirty="0"/>
          </a:p>
        </p:txBody>
      </p:sp>
      <p:sp>
        <p:nvSpPr>
          <p:cNvPr id="8" name="Shape 6"/>
          <p:cNvSpPr/>
          <p:nvPr/>
        </p:nvSpPr>
        <p:spPr>
          <a:xfrm>
            <a:off x="457200" y="1403568"/>
            <a:ext cx="3314700" cy="3151287"/>
          </a:xfrm>
          <a:prstGeom prst="rect">
            <a:avLst/>
          </a:prstGeom>
          <a:solidFill>
            <a:srgbClr val="161616"/>
          </a:solidFill>
          <a:ln w="5715">
            <a:solidFill>
              <a:srgbClr val="C9A961">
                <a:alpha val="30000"/>
              </a:srgbClr>
            </a:solidFill>
            <a:prstDash val="solid"/>
          </a:ln>
          <a:effectLst>
            <a:outerShdw blurRad="101600" dist="190500" dir="16200000" algn="bl" rotWithShape="0">
              <a:srgbClr val="E53935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9" name="Image 0" descr="/home/wangbo4/.openclaw/workspace/ppt_decks/半导体存储市场研究报告_20260426_015200/images/page_004_inherited.png"/>
          <p:cNvPicPr>
            <a:picLocks noChangeAspect="1"/>
          </p:cNvPicPr>
          <p:nvPr/>
        </p:nvPicPr>
        <p:blipFill>
          <a:blip r:embed="rId3"/>
          <a:srcRect t="-46023" b="-46023"/>
          <a:stretch/>
        </p:blipFill>
        <p:spPr>
          <a:xfrm>
            <a:off x="462915" y="1409283"/>
            <a:ext cx="3303270" cy="313985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97480" y="4269105"/>
            <a:ext cx="954405" cy="165735"/>
          </a:xfrm>
          <a:prstGeom prst="rect">
            <a:avLst/>
          </a:prstGeom>
          <a:solidFill>
            <a:srgbClr val="000000">
              <a:alpha val="80000"/>
            </a:srgbClr>
          </a:solidFill>
          <a:ln w="5715">
            <a:solidFill>
              <a:srgbClr val="C9A96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>
            <a:off x="2697480" y="4269105"/>
            <a:ext cx="1068934" cy="165735"/>
          </a:xfrm>
          <a:prstGeom prst="rect">
            <a:avLst/>
          </a:prstGeom>
          <a:noFill/>
          <a:ln/>
        </p:spPr>
        <p:txBody>
          <a:bodyPr wrap="square" lIns="34290" tIns="68580" rIns="68580" bIns="34290" rtlCol="0" anchor="ctr"/>
          <a:lstStyle/>
          <a:p>
            <a:pPr marL="0" indent="0" algn="l">
              <a:buNone/>
            </a:pPr>
            <a:r>
              <a:rPr lang="en-US" sz="540" kern="0" spc="45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FIG.2 TOP 5 GAINERS</a:t>
            </a:r>
            <a:endParaRPr lang="en-US" sz="540" dirty="0"/>
          </a:p>
        </p:txBody>
      </p:sp>
      <p:sp>
        <p:nvSpPr>
          <p:cNvPr id="12" name="Shape 9"/>
          <p:cNvSpPr/>
          <p:nvPr/>
        </p:nvSpPr>
        <p:spPr>
          <a:xfrm>
            <a:off x="4114800" y="1213277"/>
            <a:ext cx="1447770" cy="60007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4114800" y="1213277"/>
            <a:ext cx="1447770" cy="0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>
            <a:off x="4114800" y="1213277"/>
            <a:ext cx="1447770" cy="582930"/>
          </a:xfrm>
          <a:prstGeom prst="rect">
            <a:avLst/>
          </a:prstGeom>
          <a:gradFill rotWithShape="1">
            <a:gsLst>
              <a:gs pos="0">
                <a:srgbClr val="C9A961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2"/>
          <p:cNvSpPr/>
          <p:nvPr/>
        </p:nvSpPr>
        <p:spPr>
          <a:xfrm>
            <a:off x="4251960" y="1344722"/>
            <a:ext cx="131426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TOP1 涨幅</a:t>
            </a:r>
            <a:endParaRPr lang="en-US" sz="585" dirty="0"/>
          </a:p>
        </p:txBody>
      </p:sp>
      <p:sp>
        <p:nvSpPr>
          <p:cNvPr id="16" name="Text 13"/>
          <p:cNvSpPr/>
          <p:nvPr/>
        </p:nvSpPr>
        <p:spPr>
          <a:xfrm>
            <a:off x="4251960" y="1516172"/>
            <a:ext cx="1356330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E5393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+64.71%</a:t>
            </a:r>
            <a:endParaRPr lang="en-US" sz="1440" dirty="0"/>
          </a:p>
        </p:txBody>
      </p:sp>
      <p:sp>
        <p:nvSpPr>
          <p:cNvPr id="17" name="Shape 14"/>
          <p:cNvSpPr/>
          <p:nvPr/>
        </p:nvSpPr>
        <p:spPr>
          <a:xfrm>
            <a:off x="5676870" y="1213277"/>
            <a:ext cx="1447860" cy="60007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5676870" y="1213277"/>
            <a:ext cx="1447860" cy="0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6"/>
          <p:cNvSpPr/>
          <p:nvPr/>
        </p:nvSpPr>
        <p:spPr>
          <a:xfrm>
            <a:off x="5676870" y="1213277"/>
            <a:ext cx="1447861" cy="582930"/>
          </a:xfrm>
          <a:prstGeom prst="rect">
            <a:avLst/>
          </a:prstGeom>
          <a:gradFill rotWithShape="1">
            <a:gsLst>
              <a:gs pos="0">
                <a:srgbClr val="C9A961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7"/>
          <p:cNvSpPr/>
          <p:nvPr/>
        </p:nvSpPr>
        <p:spPr>
          <a:xfrm>
            <a:off x="5814030" y="1344722"/>
            <a:ext cx="131436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TOP5 平均涨幅</a:t>
            </a:r>
            <a:endParaRPr lang="en-US" sz="585" dirty="0"/>
          </a:p>
        </p:txBody>
      </p:sp>
      <p:sp>
        <p:nvSpPr>
          <p:cNvPr id="21" name="Text 18"/>
          <p:cNvSpPr/>
          <p:nvPr/>
        </p:nvSpPr>
        <p:spPr>
          <a:xfrm>
            <a:off x="5814030" y="1516172"/>
            <a:ext cx="1356420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+60.5%</a:t>
            </a:r>
            <a:endParaRPr lang="en-US" sz="1440" dirty="0"/>
          </a:p>
        </p:txBody>
      </p:sp>
      <p:sp>
        <p:nvSpPr>
          <p:cNvPr id="22" name="Shape 19"/>
          <p:cNvSpPr/>
          <p:nvPr/>
        </p:nvSpPr>
        <p:spPr>
          <a:xfrm>
            <a:off x="7239030" y="1213277"/>
            <a:ext cx="1447770" cy="60007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0"/>
          <p:cNvSpPr/>
          <p:nvPr/>
        </p:nvSpPr>
        <p:spPr>
          <a:xfrm>
            <a:off x="7239030" y="1213277"/>
            <a:ext cx="1447770" cy="0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1"/>
          <p:cNvSpPr/>
          <p:nvPr/>
        </p:nvSpPr>
        <p:spPr>
          <a:xfrm>
            <a:off x="7239030" y="1213277"/>
            <a:ext cx="1447770" cy="582930"/>
          </a:xfrm>
          <a:prstGeom prst="rect">
            <a:avLst/>
          </a:prstGeom>
          <a:gradFill rotWithShape="1">
            <a:gsLst>
              <a:gs pos="0">
                <a:srgbClr val="C9A961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2"/>
          <p:cNvSpPr/>
          <p:nvPr/>
        </p:nvSpPr>
        <p:spPr>
          <a:xfrm>
            <a:off x="7376190" y="1344722"/>
            <a:ext cx="131426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LPDDR4X 96GB 现价</a:t>
            </a:r>
            <a:endParaRPr lang="en-US" sz="585" dirty="0"/>
          </a:p>
        </p:txBody>
      </p:sp>
      <p:sp>
        <p:nvSpPr>
          <p:cNvPr id="26" name="Text 23"/>
          <p:cNvSpPr/>
          <p:nvPr/>
        </p:nvSpPr>
        <p:spPr>
          <a:xfrm>
            <a:off x="7376190" y="1516172"/>
            <a:ext cx="1356330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$140.00</a:t>
            </a:r>
            <a:endParaRPr lang="en-US" sz="1440" dirty="0"/>
          </a:p>
        </p:txBody>
      </p:sp>
      <p:sp>
        <p:nvSpPr>
          <p:cNvPr id="27" name="Shape 24"/>
          <p:cNvSpPr/>
          <p:nvPr/>
        </p:nvSpPr>
        <p:spPr>
          <a:xfrm>
            <a:off x="4114800" y="1950512"/>
            <a:ext cx="4572000" cy="2794635"/>
          </a:xfrm>
          <a:prstGeom prst="rect">
            <a:avLst/>
          </a:prstGeom>
          <a:solidFill>
            <a:srgbClr val="141414"/>
          </a:solidFill>
          <a:ln w="5715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5"/>
          <p:cNvSpPr/>
          <p:nvPr/>
        </p:nvSpPr>
        <p:spPr>
          <a:xfrm>
            <a:off x="4291965" y="2127677"/>
            <a:ext cx="4723790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kern="0" spc="9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涨幅榜数据明细</a:t>
            </a:r>
            <a:endParaRPr lang="en-US" sz="630" dirty="0"/>
          </a:p>
        </p:txBody>
      </p:sp>
      <p:sp>
        <p:nvSpPr>
          <p:cNvPr id="29" name="Shape 26"/>
          <p:cNvSpPr/>
          <p:nvPr/>
        </p:nvSpPr>
        <p:spPr>
          <a:xfrm>
            <a:off x="4291965" y="2127677"/>
            <a:ext cx="45720" cy="4572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53872"/>
              </p:ext>
            </p:extLst>
          </p:nvPr>
        </p:nvGraphicFramePr>
        <p:xfrm>
          <a:off x="4291965" y="2350562"/>
          <a:ext cx="4177476" cy="1700784"/>
        </p:xfrm>
        <a:graphic>
          <a:graphicData uri="http://schemas.openxmlformats.org/drawingml/2006/table">
            <a:tbl>
              <a:tblPr/>
              <a:tblGrid>
                <a:gridCol w="6962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2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62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62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排名</a:t>
                      </a:r>
                      <a:endParaRPr lang="en-US" sz="81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40" b="1" dirty="0">
                          <a:solidFill>
                            <a:srgbClr val="888888"/>
                          </a:solidFill>
                        </a:rPr>
                        <a:t>产品</a:t>
                      </a:r>
                      <a:endParaRPr lang="en-US" sz="54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40" b="1" dirty="0">
                          <a:solidFill>
                            <a:srgbClr val="CCCCCC"/>
                          </a:solidFill>
                        </a:rPr>
                        <a:t>起始价</a:t>
                      </a:r>
                      <a:endParaRPr lang="en-US" sz="54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40" b="1" dirty="0">
                          <a:solidFill>
                            <a:srgbClr val="CCCCCC"/>
                          </a:solidFill>
                        </a:rPr>
                        <a:t>当前价</a:t>
                      </a:r>
                      <a:endParaRPr lang="en-US" sz="54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540" b="1" dirty="0">
                          <a:solidFill>
                            <a:srgbClr val="E53935"/>
                          </a:solidFill>
                        </a:rPr>
                        <a:t>涨幅</a:t>
                      </a:r>
                      <a:endParaRPr lang="en-US" sz="54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540" dirty="0"/>
                    </a:p>
                  </a:txBody>
                  <a:tcPr anchor="ctr">
                    <a:lnL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01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LPDDR4X 96Gb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$85.00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$140.00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+64.71%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领涨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02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1Tb QLC Flash Wafer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$17.00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$28.00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+64.71%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高增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03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1Tb TLC Flash Wafer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$18.00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$29.00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+61.11%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04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MicroSD 16GB 渠道价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￥16.70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￥26.50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+58.68%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0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05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E0E0E0"/>
                          </a:solidFill>
                        </a:rPr>
                        <a:t>512Gb TLC Flash Wafer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$15.00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CCCCC"/>
                          </a:solidFill>
                        </a:rPr>
                        <a:t>$23.00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+53.33%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Shape 27"/>
          <p:cNvSpPr/>
          <p:nvPr/>
        </p:nvSpPr>
        <p:spPr>
          <a:xfrm>
            <a:off x="457200" y="4554855"/>
            <a:ext cx="8229600" cy="360045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8"/>
          <p:cNvSpPr/>
          <p:nvPr/>
        </p:nvSpPr>
        <p:spPr>
          <a:xfrm>
            <a:off x="457200" y="4554855"/>
            <a:ext cx="82296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29"/>
          <p:cNvSpPr/>
          <p:nvPr/>
        </p:nvSpPr>
        <p:spPr>
          <a:xfrm>
            <a:off x="457200" y="4750326"/>
            <a:ext cx="6400800" cy="1645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810" dirty="0">
                <a:solidFill>
                  <a:srgbClr val="B0B0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涨幅榜前列产品集中在</a:t>
            </a:r>
            <a:r>
              <a:rPr lang="en-US" sz="81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高带宽移动内存</a:t>
            </a:r>
            <a:r>
              <a:rPr lang="en-US" sz="810" dirty="0">
                <a:solidFill>
                  <a:srgbClr val="B0B0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与</a:t>
            </a:r>
            <a:r>
              <a:rPr lang="en-US" sz="81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大容量存储晶圆</a:t>
            </a:r>
            <a:r>
              <a:rPr lang="en-US" sz="810" dirty="0">
                <a:solidFill>
                  <a:srgbClr val="B0B0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，直接反映 AI 手机与数据中心对高性能存储的迫切需求。</a:t>
            </a:r>
            <a:endParaRPr lang="en-US" sz="810" dirty="0"/>
          </a:p>
        </p:txBody>
      </p:sp>
      <p:sp>
        <p:nvSpPr>
          <p:cNvPr id="35" name="Text 30"/>
          <p:cNvSpPr/>
          <p:nvPr/>
        </p:nvSpPr>
        <p:spPr>
          <a:xfrm>
            <a:off x="8361045" y="4697730"/>
            <a:ext cx="658368" cy="2743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FFFFFF">
                    <a:alpha val="1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21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0D0D0D"/>
              </a:gs>
            </a:gsLst>
            <a:lin ang="27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68580" cy="514350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3000"/>
                </a:srgbClr>
              </a:gs>
              <a:gs pos="33000">
                <a:srgbClr val="000000">
                  <a:alpha val="0"/>
                </a:srgbClr>
              </a:gs>
              <a:gs pos="67000">
                <a:srgbClr val="000000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42900" y="285750"/>
            <a:ext cx="8458200" cy="1065222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42900" y="1350972"/>
            <a:ext cx="84582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342900" y="285750"/>
            <a:ext cx="9473184" cy="1257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b="1" kern="0" spc="135" dirty="0">
                <a:solidFill>
                  <a:srgbClr val="E5393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PC 渠道价格分化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342900" y="480060"/>
            <a:ext cx="9473184" cy="33941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3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唯一下跌大类背后的需求疲软</a:t>
            </a:r>
            <a:endParaRPr lang="en-US" sz="2430" dirty="0"/>
          </a:p>
        </p:txBody>
      </p:sp>
      <p:sp>
        <p:nvSpPr>
          <p:cNvPr id="10" name="Text 8"/>
          <p:cNvSpPr/>
          <p:nvPr/>
        </p:nvSpPr>
        <p:spPr>
          <a:xfrm>
            <a:off x="342900" y="888057"/>
            <a:ext cx="51206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移动端与 AI 服务器带动整体均价上行，但 PC 渠道内部出现显著分化，价格信号已提前反映终端去库存压力。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2900" y="1522422"/>
            <a:ext cx="1005840" cy="740628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40055" y="1631007"/>
            <a:ext cx="90891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PC 平均涨跌幅</a:t>
            </a:r>
            <a:endParaRPr lang="en-US" sz="585" dirty="0"/>
          </a:p>
        </p:txBody>
      </p:sp>
      <p:sp>
        <p:nvSpPr>
          <p:cNvPr id="13" name="Text 11"/>
          <p:cNvSpPr/>
          <p:nvPr/>
        </p:nvSpPr>
        <p:spPr>
          <a:xfrm>
            <a:off x="440055" y="1779597"/>
            <a:ext cx="97155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+4.32%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440055" y="1973907"/>
            <a:ext cx="908914" cy="191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大类平均</a:t>
            </a:r>
            <a:endParaRPr lang="en-US" sz="54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内部严重分化</a:t>
            </a:r>
            <a:endParaRPr lang="en-US" sz="540" dirty="0"/>
          </a:p>
        </p:txBody>
      </p:sp>
      <p:sp>
        <p:nvSpPr>
          <p:cNvPr id="15" name="Shape 13"/>
          <p:cNvSpPr/>
          <p:nvPr/>
        </p:nvSpPr>
        <p:spPr>
          <a:xfrm>
            <a:off x="1440180" y="1522422"/>
            <a:ext cx="1005840" cy="740628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537335" y="1631007"/>
            <a:ext cx="90891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IDC 2026 PC 预测</a:t>
            </a:r>
            <a:endParaRPr lang="en-US" sz="585" dirty="0"/>
          </a:p>
        </p:txBody>
      </p:sp>
      <p:sp>
        <p:nvSpPr>
          <p:cNvPr id="17" name="Text 15"/>
          <p:cNvSpPr/>
          <p:nvPr/>
        </p:nvSpPr>
        <p:spPr>
          <a:xfrm>
            <a:off x="1537335" y="1779597"/>
            <a:ext cx="97155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-11.3%</a:t>
            </a:r>
            <a:endParaRPr lang="en-US" sz="1260" dirty="0"/>
          </a:p>
        </p:txBody>
      </p:sp>
      <p:sp>
        <p:nvSpPr>
          <p:cNvPr id="18" name="Text 16"/>
          <p:cNvSpPr/>
          <p:nvPr/>
        </p:nvSpPr>
        <p:spPr>
          <a:xfrm>
            <a:off x="1537335" y="1973907"/>
            <a:ext cx="908914" cy="191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出货量同比</a:t>
            </a:r>
            <a:endParaRPr lang="en-US" sz="54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继续下滑</a:t>
            </a:r>
            <a:endParaRPr lang="en-US" sz="540" dirty="0"/>
          </a:p>
        </p:txBody>
      </p:sp>
      <p:sp>
        <p:nvSpPr>
          <p:cNvPr id="19" name="Shape 17"/>
          <p:cNvSpPr/>
          <p:nvPr/>
        </p:nvSpPr>
        <p:spPr>
          <a:xfrm>
            <a:off x="2537460" y="1522422"/>
            <a:ext cx="1005840" cy="740628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634615" y="1631007"/>
            <a:ext cx="908914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下跌产品占比</a:t>
            </a:r>
            <a:endParaRPr lang="en-US" sz="585" dirty="0"/>
          </a:p>
        </p:txBody>
      </p:sp>
      <p:sp>
        <p:nvSpPr>
          <p:cNvPr id="21" name="Text 19"/>
          <p:cNvSpPr/>
          <p:nvPr/>
        </p:nvSpPr>
        <p:spPr>
          <a:xfrm>
            <a:off x="2634615" y="1779597"/>
            <a:ext cx="971550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E5393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7.8%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2634615" y="1973907"/>
            <a:ext cx="908914" cy="191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全部来自</a:t>
            </a:r>
            <a:endParaRPr lang="en-US" sz="54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540" dirty="0">
                <a:solidFill>
                  <a:srgbClr val="CCCCC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PC 渠道</a:t>
            </a:r>
            <a:endParaRPr lang="en-US" sz="540" dirty="0"/>
          </a:p>
        </p:txBody>
      </p:sp>
      <p:sp>
        <p:nvSpPr>
          <p:cNvPr id="23" name="Shape 21"/>
          <p:cNvSpPr/>
          <p:nvPr/>
        </p:nvSpPr>
        <p:spPr>
          <a:xfrm>
            <a:off x="342900" y="2400211"/>
            <a:ext cx="3200400" cy="12458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342900" y="2400211"/>
            <a:ext cx="0" cy="1245870"/>
          </a:xfrm>
          <a:prstGeom prst="line">
            <a:avLst/>
          </a:prstGeom>
          <a:noFill/>
          <a:ln w="2286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502920" y="2514511"/>
            <a:ext cx="3251606" cy="17145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核心要点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2514511"/>
            <a:ext cx="34290" cy="11430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02920" y="2777401"/>
            <a:ext cx="3048381" cy="7543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■"/>
            </a:pPr>
            <a:r>
              <a:rPr lang="en-US" sz="720" dirty="0">
                <a:solidFill>
                  <a:srgbClr val="E0E0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DDR4 UDIMM 8GB 跌幅最大，低容量需求率先走弱</a:t>
            </a:r>
            <a:endParaRPr lang="en-US" sz="720" dirty="0"/>
          </a:p>
          <a:p>
            <a:pPr marL="342900" indent="-342900" algn="l">
              <a:buSzPct val="100000"/>
              <a:buChar char="■"/>
            </a:pPr>
            <a:r>
              <a:rPr lang="en-US" sz="720" dirty="0">
                <a:solidFill>
                  <a:srgbClr val="E0E0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SSD 小容量承压，120GB 级别价格持续下探</a:t>
            </a:r>
            <a:endParaRPr lang="en-US" sz="720" dirty="0"/>
          </a:p>
          <a:p>
            <a:pPr marL="342900" indent="-342900" algn="l">
              <a:buSzPct val="100000"/>
              <a:buChar char="■"/>
            </a:pPr>
            <a:r>
              <a:rPr lang="en-US" sz="720" dirty="0">
                <a:solidFill>
                  <a:srgbClr val="E0E0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大容量也未能幸免，16GB 内存同步进入下行区间</a:t>
            </a:r>
            <a:endParaRPr lang="en-US" sz="720" dirty="0"/>
          </a:p>
          <a:p>
            <a:pPr marL="342900" indent="-342900" algn="l">
              <a:buSzPct val="100000"/>
              <a:buChar char="■"/>
            </a:pPr>
            <a:r>
              <a:rPr lang="en-US" sz="720" dirty="0">
                <a:solidFill>
                  <a:srgbClr val="E0E0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IDC 下调预测印证了需求端的周期性疲软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42900" y="3783241"/>
            <a:ext cx="3200400" cy="1074509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487055"/>
              </p:ext>
            </p:extLst>
          </p:nvPr>
        </p:nvGraphicFramePr>
        <p:xfrm>
          <a:off x="348613" y="3788958"/>
          <a:ext cx="3202688" cy="1104098"/>
        </p:xfrm>
        <a:graphic>
          <a:graphicData uri="http://schemas.openxmlformats.org/drawingml/2006/table">
            <a:tbl>
              <a:tblPr/>
              <a:tblGrid>
                <a:gridCol w="800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0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25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AAAAAA"/>
                          </a:solidFill>
                        </a:rPr>
                        <a:t>产品</a:t>
                      </a:r>
                      <a:endParaRPr lang="en-US" sz="58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AAAAAA"/>
                          </a:solidFill>
                        </a:rPr>
                        <a:t>起始价</a:t>
                      </a:r>
                      <a:endParaRPr lang="en-US" sz="58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AAAAAA"/>
                          </a:solidFill>
                        </a:rPr>
                        <a:t>当前价</a:t>
                      </a:r>
                      <a:endParaRPr lang="en-US" sz="58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AAAAAA"/>
                          </a:solidFill>
                        </a:rPr>
                        <a:t>跌幅</a:t>
                      </a:r>
                      <a:endParaRPr lang="en-US" sz="58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FFFFF"/>
                          </a:solidFill>
                        </a:rPr>
                        <a:t>DDR4 UDIMM 8GB 3200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$50.00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$42.00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0F0F0"/>
                          </a:solidFill>
                        </a:rPr>
                        <a:t>-16.00%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FFFFF"/>
                          </a:solidFill>
                        </a:rPr>
                        <a:t>SSD(SATA 3) 120GB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$24.00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$21.00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0F0F0"/>
                          </a:solidFill>
                        </a:rPr>
                        <a:t>-12.50%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FFFFF"/>
                          </a:solidFill>
                        </a:rPr>
                        <a:t>DDR4 UDIMM 16GB 3200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$95.00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0F0F0"/>
                          </a:solidFill>
                        </a:rPr>
                        <a:t>$85.00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0F0F0"/>
                          </a:solidFill>
                        </a:rPr>
                        <a:t>-10.53%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3829050" y="1522422"/>
            <a:ext cx="4972050" cy="3335328"/>
          </a:xfrm>
          <a:prstGeom prst="rect">
            <a:avLst/>
          </a:prstGeom>
          <a:solidFill>
            <a:srgbClr val="1A1A1A"/>
          </a:solidFill>
          <a:ln w="5715">
            <a:solidFill>
              <a:srgbClr val="FFFFFF">
                <a:alpha val="10000"/>
              </a:srgbClr>
            </a:solidFill>
            <a:prstDash val="solid"/>
          </a:ln>
          <a:effectLst>
            <a:outerShdw blurRad="381000" dist="1905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31" name="Image 0" descr="/home/wangbo4/.openclaw/workspace/ppt_decks/半导体存储市场研究报告_20260426_015200/images/page_005_inherited.png"/>
          <p:cNvPicPr>
            <a:picLocks noChangeAspect="1"/>
          </p:cNvPicPr>
          <p:nvPr/>
        </p:nvPicPr>
        <p:blipFill>
          <a:blip r:embed="rId3"/>
          <a:srcRect l="13067" r="13067"/>
          <a:stretch/>
        </p:blipFill>
        <p:spPr>
          <a:xfrm>
            <a:off x="3834765" y="1528137"/>
            <a:ext cx="4960620" cy="3323898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949065" y="4531995"/>
            <a:ext cx="1011555" cy="205740"/>
          </a:xfrm>
          <a:prstGeom prst="rect">
            <a:avLst/>
          </a:prstGeom>
          <a:solidFill>
            <a:srgbClr val="000000">
              <a:alpha val="8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3949065" y="4531995"/>
            <a:ext cx="0" cy="205740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/>
          <p:nvPr/>
        </p:nvSpPr>
        <p:spPr>
          <a:xfrm>
            <a:off x="3949065" y="4531995"/>
            <a:ext cx="1132942" cy="20574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 marL="0" indent="0" algn="l">
              <a:buNone/>
            </a:pPr>
            <a:r>
              <a:rPr lang="en-US" sz="630" kern="0" spc="45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PC 渠道价格分化趋势</a:t>
            </a:r>
            <a:endParaRPr lang="en-US" sz="630" dirty="0"/>
          </a:p>
        </p:txBody>
      </p:sp>
      <p:sp>
        <p:nvSpPr>
          <p:cNvPr id="35" name="Text 31"/>
          <p:cNvSpPr/>
          <p:nvPr/>
        </p:nvSpPr>
        <p:spPr>
          <a:xfrm>
            <a:off x="342900" y="4926330"/>
            <a:ext cx="4147718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66666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注：图表与表格数据用于展示 PC 渠道价格分化趋势，重点突出价格下跌与移动端/AI 服务器暴涨的对比。</a:t>
            </a:r>
            <a:endParaRPr lang="en-US" sz="58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2571750"/>
            <a:ext cx="14630400" cy="8229600"/>
          </a:xfrm>
          <a:prstGeom prst="ellipse">
            <a:avLst/>
          </a:prstGeom>
          <a:gradFill rotWithShape="1">
            <a:gsLst>
              <a:gs pos="0">
                <a:srgbClr val="1A1A1A">
                  <a:alpha val="400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457200" y="0"/>
            <a:ext cx="685800" cy="3429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486400" y="571500"/>
            <a:ext cx="5715" cy="4000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9A961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"/>
            <a:ext cx="9217152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kern="0" spc="18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02</a:t>
            </a:r>
            <a:endParaRPr lang="en-US" sz="720" dirty="0"/>
          </a:p>
        </p:txBody>
      </p:sp>
      <p:sp>
        <p:nvSpPr>
          <p:cNvPr id="6" name="Shape 4"/>
          <p:cNvSpPr/>
          <p:nvPr/>
        </p:nvSpPr>
        <p:spPr>
          <a:xfrm>
            <a:off x="457200" y="342900"/>
            <a:ext cx="228600" cy="1143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57200" y="594360"/>
            <a:ext cx="4864608" cy="5280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780" b="1" kern="0" spc="90" dirty="0">
                <a:solidFill>
                  <a:srgbClr val="F5F5F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供给端</a:t>
            </a:r>
            <a:r>
              <a:rPr lang="en-US" sz="3780" b="1" kern="0" spc="90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分析</a:t>
            </a:r>
            <a:endParaRPr lang="en-US" sz="3780" dirty="0"/>
          </a:p>
        </p:txBody>
      </p:sp>
      <p:sp>
        <p:nvSpPr>
          <p:cNvPr id="8" name="Text 6"/>
          <p:cNvSpPr/>
          <p:nvPr/>
        </p:nvSpPr>
        <p:spPr>
          <a:xfrm>
            <a:off x="457200" y="1259532"/>
            <a:ext cx="4352544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8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原厂产能策略、HBM 挤压与资本开支周期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7200" y="1693872"/>
            <a:ext cx="8229600" cy="422910"/>
          </a:xfrm>
          <a:prstGeom prst="rect">
            <a:avLst/>
          </a:prstGeom>
          <a:solidFill>
            <a:srgbClr val="C9A961">
              <a:alpha val="5000"/>
            </a:srgbClr>
          </a:solidFill>
          <a:ln w="571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451485" y="1688157"/>
            <a:ext cx="22860" cy="42291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45795" y="1791027"/>
            <a:ext cx="845820" cy="2286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260" b="1" kern="0" spc="90" dirty="0">
                <a:solidFill>
                  <a:srgbClr val="C9A96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供给刚性</a:t>
            </a:r>
            <a:endParaRPr lang="en-US" sz="1260" dirty="0"/>
          </a:p>
        </p:txBody>
      </p:sp>
      <p:sp>
        <p:nvSpPr>
          <p:cNvPr id="12" name="Text 10"/>
          <p:cNvSpPr/>
          <p:nvPr/>
        </p:nvSpPr>
        <p:spPr>
          <a:xfrm>
            <a:off x="457200" y="2391102"/>
            <a:ext cx="46085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ct val="180000"/>
              </a:lnSpc>
              <a:buNone/>
            </a:pPr>
            <a:r>
              <a:rPr lang="en-US" sz="900" dirty="0">
                <a:solidFill>
                  <a:srgbClr val="D1D1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供给端结构性变化是本轮涨价的核心。原厂将产能转向高利润的 HBM 和先进制程，导致常规存储可用产能显著收缩，新产能最早 2027 年底才投产。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031182"/>
            <a:ext cx="4320540" cy="768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810" dirty="0">
                <a:solidFill>
                  <a:srgbClr val="F5F5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市场高度集中，三大原厂控制 93% DRAM 市场，拥有绝对定价权</a:t>
            </a:r>
            <a:endParaRPr lang="en-US" sz="810" dirty="0"/>
          </a:p>
          <a:p>
            <a:pPr marL="342900" indent="-342900" algn="l">
              <a:buSzPct val="100000"/>
              <a:buChar char="•"/>
            </a:pPr>
            <a:r>
              <a:rPr lang="en-US" sz="810" dirty="0">
                <a:solidFill>
                  <a:srgbClr val="F5F5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HBM 产能挤压，占用晶圆产能是常规 DRAM 的 3 倍</a:t>
            </a:r>
            <a:endParaRPr lang="en-US" sz="810" dirty="0"/>
          </a:p>
          <a:p>
            <a:pPr marL="342900" indent="-342900" algn="l">
              <a:buSzPct val="100000"/>
              <a:buChar char="•"/>
            </a:pPr>
            <a:r>
              <a:rPr lang="en-US" sz="810" dirty="0">
                <a:solidFill>
                  <a:srgbClr val="F5F5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资本开支谨慎，2023-2024 年大幅削减，2025-2026 年仅选择性扩张 HBM</a:t>
            </a:r>
            <a:endParaRPr lang="en-US" sz="810" dirty="0"/>
          </a:p>
        </p:txBody>
      </p:sp>
      <p:sp>
        <p:nvSpPr>
          <p:cNvPr id="14" name="Shape 12"/>
          <p:cNvSpPr/>
          <p:nvPr/>
        </p:nvSpPr>
        <p:spPr>
          <a:xfrm>
            <a:off x="457200" y="4011930"/>
            <a:ext cx="4800600" cy="78867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4011930"/>
            <a:ext cx="48006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57200" y="4200525"/>
            <a:ext cx="1722090" cy="2743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3×</a:t>
            </a:r>
            <a:endParaRPr lang="en-US" sz="2160" dirty="0"/>
          </a:p>
        </p:txBody>
      </p:sp>
      <p:sp>
        <p:nvSpPr>
          <p:cNvPr id="17" name="Text 15"/>
          <p:cNvSpPr/>
          <p:nvPr/>
        </p:nvSpPr>
        <p:spPr>
          <a:xfrm>
            <a:off x="457200" y="4543425"/>
            <a:ext cx="1621503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HBM 产能占用</a:t>
            </a:r>
            <a:endParaRPr lang="en-US" sz="67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常规 DRAM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2133570" y="4200525"/>
            <a:ext cx="1722180" cy="2743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3×</a:t>
            </a:r>
            <a:endParaRPr lang="en-US" sz="2160" dirty="0"/>
          </a:p>
        </p:txBody>
      </p:sp>
      <p:sp>
        <p:nvSpPr>
          <p:cNvPr id="19" name="Text 17"/>
          <p:cNvSpPr/>
          <p:nvPr/>
        </p:nvSpPr>
        <p:spPr>
          <a:xfrm>
            <a:off x="2133570" y="4543425"/>
            <a:ext cx="1621603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HBM 单价溢价</a:t>
            </a:r>
            <a:endParaRPr lang="en-US" sz="67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常规 DRAM</a:t>
            </a:r>
            <a:endParaRPr lang="en-US" sz="675" dirty="0"/>
          </a:p>
        </p:txBody>
      </p:sp>
      <p:sp>
        <p:nvSpPr>
          <p:cNvPr id="20" name="Text 18"/>
          <p:cNvSpPr/>
          <p:nvPr/>
        </p:nvSpPr>
        <p:spPr>
          <a:xfrm>
            <a:off x="3810030" y="4200525"/>
            <a:ext cx="1722090" cy="2743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2160" dirty="0"/>
          </a:p>
        </p:txBody>
      </p:sp>
      <p:sp>
        <p:nvSpPr>
          <p:cNvPr id="21" name="Text 19"/>
          <p:cNvSpPr/>
          <p:nvPr/>
        </p:nvSpPr>
        <p:spPr>
          <a:xfrm>
            <a:off x="3810030" y="4543425"/>
            <a:ext cx="1621503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新产能投产时间</a:t>
            </a:r>
            <a:endParaRPr lang="en-US" sz="675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675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最早年底</a:t>
            </a:r>
            <a:endParaRPr lang="en-US" sz="675" dirty="0"/>
          </a:p>
        </p:txBody>
      </p:sp>
      <p:sp>
        <p:nvSpPr>
          <p:cNvPr id="22" name="Shape 20"/>
          <p:cNvSpPr/>
          <p:nvPr/>
        </p:nvSpPr>
        <p:spPr>
          <a:xfrm>
            <a:off x="5715000" y="571500"/>
            <a:ext cx="2971800" cy="3200400"/>
          </a:xfrm>
          <a:prstGeom prst="rect">
            <a:avLst/>
          </a:prstGeom>
          <a:solidFill>
            <a:srgbClr val="000000">
              <a:alpha val="30000"/>
            </a:srgbClr>
          </a:solidFill>
          <a:ln w="5715">
            <a:solidFill>
              <a:srgbClr val="C9A961">
                <a:alpha val="20000"/>
              </a:srgbClr>
            </a:solidFill>
            <a:prstDash val="solid"/>
          </a:ln>
          <a:effectLst>
            <a:outerShdw blurRad="381000" dist="1905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857875" y="714375"/>
            <a:ext cx="2686050" cy="165735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5857875" y="880110"/>
            <a:ext cx="268605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5857875" y="714375"/>
            <a:ext cx="3008376" cy="165735"/>
          </a:xfrm>
          <a:prstGeom prst="rect">
            <a:avLst/>
          </a:prstGeom>
          <a:noFill/>
          <a:ln/>
        </p:spPr>
        <p:txBody>
          <a:bodyPr wrap="square" lIns="0" tIns="0" rIns="0" bIns="68580" rtlCol="0" anchor="ctr"/>
          <a:lstStyle/>
          <a:p>
            <a:pPr marL="0" indent="0" algn="l">
              <a:buNone/>
            </a:pPr>
            <a:r>
              <a:rPr lang="en-US" sz="585" kern="0" spc="9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RIGIDITY / VISUAL DIVIDER</a:t>
            </a:r>
            <a:endParaRPr lang="en-US" sz="585" dirty="0"/>
          </a:p>
        </p:txBody>
      </p:sp>
      <p:sp>
        <p:nvSpPr>
          <p:cNvPr id="26" name="Shape 24"/>
          <p:cNvSpPr/>
          <p:nvPr/>
        </p:nvSpPr>
        <p:spPr>
          <a:xfrm>
            <a:off x="5857875" y="994410"/>
            <a:ext cx="2686050" cy="263461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27" name="Image 0" descr="/home/wangbo4/.openclaw/workspace/ppt_decks/半导体存储市场研究报告_20260426_015200/images/page_006_divider.png"/>
          <p:cNvPicPr>
            <a:picLocks noChangeAspect="1"/>
          </p:cNvPicPr>
          <p:nvPr/>
        </p:nvPicPr>
        <p:blipFill>
          <a:blip r:embed="rId3"/>
          <a:srcRect l="21548" r="21548"/>
          <a:stretch/>
        </p:blipFill>
        <p:spPr>
          <a:xfrm>
            <a:off x="5857875" y="994410"/>
            <a:ext cx="2686050" cy="2634615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5857875" y="994410"/>
            <a:ext cx="2686050" cy="2634615"/>
          </a:xfrm>
          <a:prstGeom prst="rect">
            <a:avLst/>
          </a:prstGeom>
          <a:solidFill>
            <a:srgbClr val="000000">
              <a:alpha val="1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6"/>
          <p:cNvSpPr/>
          <p:nvPr/>
        </p:nvSpPr>
        <p:spPr>
          <a:xfrm>
            <a:off x="6892290" y="4886325"/>
            <a:ext cx="2009851" cy="8572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135" dirty="0">
                <a:solidFill>
                  <a:srgbClr val="FFFFFF">
                    <a:alpha val="3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SEMICONDUCTOR SUPPLY DYNAMICS</a:t>
            </a:r>
            <a:endParaRPr lang="en-US" sz="5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342900"/>
            <a:ext cx="2857500" cy="3000375"/>
          </a:xfrm>
          <a:prstGeom prst="rect">
            <a:avLst/>
          </a:prstGeom>
          <a:solidFill>
            <a:srgbClr val="DDDDDD"/>
          </a:solidFill>
          <a:ln w="5715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/home/wangbo4/.openclaw/workspace/ppt_decks/半导体存储市场研究报告_20260426_015200/images/page_007_inherited.png"/>
          <p:cNvPicPr>
            <a:picLocks noChangeAspect="1"/>
          </p:cNvPicPr>
          <p:nvPr/>
        </p:nvPicPr>
        <p:blipFill>
          <a:blip r:embed="rId3"/>
          <a:srcRect t="104" b="104"/>
          <a:stretch/>
        </p:blipFill>
        <p:spPr>
          <a:xfrm>
            <a:off x="348615" y="348615"/>
            <a:ext cx="2846070" cy="29889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2900" y="3434715"/>
            <a:ext cx="3200400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DRAM MARKET SHARE DISTRIBUTION</a:t>
            </a:r>
            <a:endParaRPr lang="en-US" sz="585" dirty="0"/>
          </a:p>
        </p:txBody>
      </p:sp>
      <p:sp>
        <p:nvSpPr>
          <p:cNvPr id="5" name="Shape 2"/>
          <p:cNvSpPr/>
          <p:nvPr/>
        </p:nvSpPr>
        <p:spPr>
          <a:xfrm>
            <a:off x="3543300" y="480060"/>
            <a:ext cx="1040130" cy="142875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3543300" y="622935"/>
            <a:ext cx="1040130" cy="0"/>
          </a:xfrm>
          <a:prstGeom prst="line">
            <a:avLst/>
          </a:prstGeom>
          <a:noFill/>
          <a:ln w="1143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3543300" y="480060"/>
            <a:ext cx="1164946" cy="142875"/>
          </a:xfrm>
          <a:prstGeom prst="rect">
            <a:avLst/>
          </a:prstGeom>
          <a:noFill/>
          <a:ln/>
        </p:spPr>
        <p:txBody>
          <a:bodyPr wrap="none" lIns="0" tIns="0" rIns="0" bIns="22860" rtlCol="0" anchor="ctr"/>
          <a:lstStyle/>
          <a:p>
            <a:pPr marL="0" indent="0" algn="l">
              <a:buNone/>
            </a:pPr>
            <a:r>
              <a:rPr lang="en-US" sz="585" b="1" kern="0" spc="90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INDUSTRY LANDSCAPE</a:t>
            </a:r>
            <a:endParaRPr lang="en-US" sz="585" dirty="0"/>
          </a:p>
        </p:txBody>
      </p:sp>
      <p:sp>
        <p:nvSpPr>
          <p:cNvPr id="8" name="Text 5"/>
          <p:cNvSpPr/>
          <p:nvPr/>
        </p:nvSpPr>
        <p:spPr>
          <a:xfrm>
            <a:off x="3543300" y="714375"/>
            <a:ext cx="5888736" cy="683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40" b="1" kern="0" spc="-45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三大原厂</a:t>
            </a:r>
            <a:endParaRPr lang="en-US" sz="234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340" b="1" kern="0" spc="-45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市场份额</a:t>
            </a:r>
            <a:endParaRPr lang="en-US" sz="2340" dirty="0"/>
          </a:p>
        </p:txBody>
      </p:sp>
      <p:sp>
        <p:nvSpPr>
          <p:cNvPr id="9" name="Text 6"/>
          <p:cNvSpPr/>
          <p:nvPr/>
        </p:nvSpPr>
        <p:spPr>
          <a:xfrm>
            <a:off x="3543300" y="1489293"/>
            <a:ext cx="5120640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SK Hynix、Samsung、Micron 的定价权。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543300" y="1900773"/>
            <a:ext cx="2571750" cy="857250"/>
          </a:xfrm>
          <a:prstGeom prst="rect">
            <a:avLst/>
          </a:prstGeom>
          <a:solidFill>
            <a:srgbClr val="FFFFFF"/>
          </a:solidFill>
          <a:ln/>
          <a:effectLst>
            <a:outerShdw blurRad="142875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8"/>
          <p:cNvSpPr/>
          <p:nvPr/>
        </p:nvSpPr>
        <p:spPr>
          <a:xfrm>
            <a:off x="3543300" y="1900773"/>
            <a:ext cx="2571750" cy="0"/>
          </a:xfrm>
          <a:prstGeom prst="line">
            <a:avLst/>
          </a:prstGeom>
          <a:noFill/>
          <a:ln w="2286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3680460" y="2037933"/>
            <a:ext cx="2573122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SK Hynix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80460" y="2272248"/>
            <a:ext cx="2573122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34%</a:t>
            </a:r>
            <a:endParaRPr lang="en-US" sz="1620" dirty="0"/>
          </a:p>
        </p:txBody>
      </p:sp>
      <p:sp>
        <p:nvSpPr>
          <p:cNvPr id="14" name="Text 11"/>
          <p:cNvSpPr/>
          <p:nvPr/>
        </p:nvSpPr>
        <p:spPr>
          <a:xfrm>
            <a:off x="3680460" y="2523708"/>
            <a:ext cx="2573122" cy="1200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DRAM 份额领先，HBM 占比 62%，Nvidia 核心供应商。</a:t>
            </a:r>
            <a:endParaRPr lang="en-US" sz="630" dirty="0"/>
          </a:p>
        </p:txBody>
      </p:sp>
      <p:sp>
        <p:nvSpPr>
          <p:cNvPr id="15" name="Shape 12"/>
          <p:cNvSpPr/>
          <p:nvPr/>
        </p:nvSpPr>
        <p:spPr>
          <a:xfrm>
            <a:off x="6229350" y="1900773"/>
            <a:ext cx="2571750" cy="857250"/>
          </a:xfrm>
          <a:prstGeom prst="rect">
            <a:avLst/>
          </a:prstGeom>
          <a:solidFill>
            <a:srgbClr val="FFFFFF"/>
          </a:solidFill>
          <a:ln/>
          <a:effectLst>
            <a:outerShdw blurRad="142875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3"/>
          <p:cNvSpPr/>
          <p:nvPr/>
        </p:nvSpPr>
        <p:spPr>
          <a:xfrm>
            <a:off x="6229350" y="1900773"/>
            <a:ext cx="2571750" cy="0"/>
          </a:xfrm>
          <a:prstGeom prst="line">
            <a:avLst/>
          </a:prstGeom>
          <a:noFill/>
          <a:ln w="2286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4"/>
          <p:cNvSpPr/>
          <p:nvPr/>
        </p:nvSpPr>
        <p:spPr>
          <a:xfrm>
            <a:off x="6366510" y="2037933"/>
            <a:ext cx="2573122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Samsung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366510" y="2272248"/>
            <a:ext cx="2573122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33%</a:t>
            </a:r>
            <a:endParaRPr lang="en-US" sz="1620" dirty="0"/>
          </a:p>
        </p:txBody>
      </p:sp>
      <p:sp>
        <p:nvSpPr>
          <p:cNvPr id="19" name="Text 16"/>
          <p:cNvSpPr/>
          <p:nvPr/>
        </p:nvSpPr>
        <p:spPr>
          <a:xfrm>
            <a:off x="6366510" y="2523708"/>
            <a:ext cx="2573122" cy="1200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DRAM 份额紧随其后，HBM 占比 17%，综合规模最大。</a:t>
            </a:r>
            <a:endParaRPr lang="en-US" sz="630" dirty="0"/>
          </a:p>
        </p:txBody>
      </p:sp>
      <p:sp>
        <p:nvSpPr>
          <p:cNvPr id="20" name="Shape 17"/>
          <p:cNvSpPr/>
          <p:nvPr/>
        </p:nvSpPr>
        <p:spPr>
          <a:xfrm>
            <a:off x="3543300" y="2872323"/>
            <a:ext cx="2571750" cy="857250"/>
          </a:xfrm>
          <a:prstGeom prst="rect">
            <a:avLst/>
          </a:prstGeom>
          <a:solidFill>
            <a:srgbClr val="FFFFFF"/>
          </a:solidFill>
          <a:ln/>
          <a:effectLst>
            <a:outerShdw blurRad="142875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3543300" y="2872323"/>
            <a:ext cx="2571750" cy="0"/>
          </a:xfrm>
          <a:prstGeom prst="line">
            <a:avLst/>
          </a:prstGeom>
          <a:noFill/>
          <a:ln w="22860">
            <a:solidFill>
              <a:srgbClr val="78909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3680460" y="3009483"/>
            <a:ext cx="2573122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Micron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680460" y="3243798"/>
            <a:ext cx="2573122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1A1A1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26%</a:t>
            </a:r>
            <a:endParaRPr lang="en-US" sz="1620" dirty="0"/>
          </a:p>
        </p:txBody>
      </p:sp>
      <p:sp>
        <p:nvSpPr>
          <p:cNvPr id="24" name="Text 21"/>
          <p:cNvSpPr/>
          <p:nvPr/>
        </p:nvSpPr>
        <p:spPr>
          <a:xfrm>
            <a:off x="3680460" y="3495258"/>
            <a:ext cx="2573122" cy="1200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DRAM 份额第三，HBM 正在追赶，营收占比从 17% 升至 50%。</a:t>
            </a:r>
            <a:endParaRPr lang="en-US" sz="630" dirty="0"/>
          </a:p>
        </p:txBody>
      </p:sp>
      <p:sp>
        <p:nvSpPr>
          <p:cNvPr id="25" name="Shape 22"/>
          <p:cNvSpPr/>
          <p:nvPr/>
        </p:nvSpPr>
        <p:spPr>
          <a:xfrm>
            <a:off x="6229350" y="2872323"/>
            <a:ext cx="2571750" cy="857250"/>
          </a:xfrm>
          <a:prstGeom prst="rect">
            <a:avLst/>
          </a:prstGeom>
          <a:solidFill>
            <a:srgbClr val="FFFFFF"/>
          </a:solidFill>
          <a:ln/>
          <a:effectLst>
            <a:outerShdw blurRad="142875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3"/>
          <p:cNvSpPr/>
          <p:nvPr/>
        </p:nvSpPr>
        <p:spPr>
          <a:xfrm>
            <a:off x="6229350" y="2872323"/>
            <a:ext cx="2571750" cy="0"/>
          </a:xfrm>
          <a:prstGeom prst="line">
            <a:avLst/>
          </a:prstGeom>
          <a:noFill/>
          <a:ln w="2286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4"/>
          <p:cNvSpPr/>
          <p:nvPr/>
        </p:nvSpPr>
        <p:spPr>
          <a:xfrm>
            <a:off x="6366510" y="3009483"/>
            <a:ext cx="2573122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合计控制力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366510" y="3243798"/>
            <a:ext cx="2573122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93%</a:t>
            </a:r>
            <a:endParaRPr lang="en-US" sz="1620" dirty="0"/>
          </a:p>
        </p:txBody>
      </p:sp>
      <p:sp>
        <p:nvSpPr>
          <p:cNvPr id="29" name="Text 26"/>
          <p:cNvSpPr/>
          <p:nvPr/>
        </p:nvSpPr>
        <p:spPr>
          <a:xfrm>
            <a:off x="6366510" y="3495258"/>
            <a:ext cx="2573122" cy="1200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63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三家合计控制约 93% DRAM，~80%+ HBM，形成寡头垄断。</a:t>
            </a:r>
            <a:endParaRPr lang="en-US" sz="630" dirty="0"/>
          </a:p>
        </p:txBody>
      </p:sp>
      <p:sp>
        <p:nvSpPr>
          <p:cNvPr id="30" name="Text 27"/>
          <p:cNvSpPr/>
          <p:nvPr/>
        </p:nvSpPr>
        <p:spPr>
          <a:xfrm>
            <a:off x="3543300" y="3958173"/>
            <a:ext cx="5888736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b="1" kern="0" spc="90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DETAILED BREAKDOWN</a:t>
            </a:r>
            <a:endParaRPr lang="en-US" sz="585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44165"/>
              </p:ext>
            </p:extLst>
          </p:nvPr>
        </p:nvGraphicFramePr>
        <p:xfrm>
          <a:off x="3543300" y="4158198"/>
          <a:ext cx="5257800" cy="894924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厂商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DRAM 市场份额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HBM 市场份额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核心优势 / 备注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SK Hynix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34%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C9A961"/>
                          </a:solidFill>
                        </a:rPr>
                        <a:t>62%</a:t>
                      </a:r>
                      <a:endParaRPr lang="en-US" sz="810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HBM 领导者，Nvidia 核心供应商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Samsung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33%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17%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综合规模最大，正在追赶 HBM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Micron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26%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正在追赶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1A1A1A"/>
                          </a:solidFill>
                        </a:rPr>
                        <a:t>AI 转型积极，HBM ASP 预期涨 22%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合计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93%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~80%+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675" dirty="0"/>
                    </a:p>
                  </a:txBody>
                  <a:tcPr marL="0" marR="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3543300" y="5864126"/>
            <a:ext cx="5257800" cy="60346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3543300" y="5864126"/>
            <a:ext cx="34290" cy="60347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/>
          <p:nvPr/>
        </p:nvSpPr>
        <p:spPr>
          <a:xfrm>
            <a:off x="3726180" y="6001286"/>
            <a:ext cx="5479085" cy="3291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810" dirty="0">
                <a:solidFill>
                  <a:srgbClr val="F5F3F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寡头垄断格局赋予原厂极强的</a:t>
            </a:r>
            <a:r>
              <a:rPr lang="en-US" sz="810" b="1" dirty="0">
                <a:solidFill>
                  <a:srgbClr val="C9A96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产能分配权</a:t>
            </a:r>
            <a:r>
              <a:rPr lang="en-US" sz="810" dirty="0">
                <a:solidFill>
                  <a:srgbClr val="F5F3F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810" b="1" dirty="0">
                <a:solidFill>
                  <a:srgbClr val="C9A96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定价权</a:t>
            </a:r>
            <a:r>
              <a:rPr lang="en-US" sz="810" dirty="0">
                <a:solidFill>
                  <a:srgbClr val="F5F3F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，SK Hynix 在 HBM 领域的绝对领先使其成为本轮涨价的最大受益者。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39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-2057400"/>
            <a:ext cx="10972800" cy="6172200"/>
          </a:xfrm>
          <a:prstGeom prst="ellipse">
            <a:avLst/>
          </a:prstGeom>
          <a:gradFill rotWithShape="1">
            <a:gsLst>
              <a:gs pos="0">
                <a:srgbClr val="E53935">
                  <a:alpha val="9600"/>
                </a:srgbClr>
              </a:gs>
              <a:gs pos="100000">
                <a:srgbClr val="E5393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457200" y="0"/>
            <a:ext cx="685800" cy="3429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"/>
            <a:ext cx="5760720" cy="1257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b="1" kern="0" spc="135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产能结构 / 核心矛盾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457200" y="560070"/>
            <a:ext cx="5760720" cy="32682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40" b="1" kern="0" spc="-22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HBM 产能挤压机制</a:t>
            </a:r>
            <a:endParaRPr lang="en-US" sz="2340" dirty="0"/>
          </a:p>
        </p:txBody>
      </p:sp>
      <p:sp>
        <p:nvSpPr>
          <p:cNvPr id="7" name="Text 5"/>
          <p:cNvSpPr/>
          <p:nvPr/>
        </p:nvSpPr>
        <p:spPr>
          <a:xfrm>
            <a:off x="457200" y="978337"/>
            <a:ext cx="51206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需求如何挤占常规存储供给：从晶圆重分配、产品单价拉升，到常规 DRAM/NAND 可用产能收缩。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58397"/>
            <a:ext cx="5143500" cy="388620"/>
          </a:xfrm>
          <a:prstGeom prst="rect">
            <a:avLst/>
          </a:prstGeom>
          <a:solidFill>
            <a:srgbClr val="E53935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457200" y="1458397"/>
            <a:ext cx="0" cy="388620"/>
          </a:xfrm>
          <a:prstGeom prst="line">
            <a:avLst/>
          </a:prstGeom>
          <a:noFill/>
          <a:ln w="2286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94360" y="1549837"/>
            <a:ext cx="355937" cy="2057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b="1" kern="0" spc="45" dirty="0">
                <a:solidFill>
                  <a:srgbClr val="E539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核心叙事</a:t>
            </a:r>
            <a:endParaRPr lang="en-US" sz="585" dirty="0"/>
          </a:p>
        </p:txBody>
      </p:sp>
      <p:sp>
        <p:nvSpPr>
          <p:cNvPr id="11" name="Text 9"/>
          <p:cNvSpPr/>
          <p:nvPr/>
        </p:nvSpPr>
        <p:spPr>
          <a:xfrm>
            <a:off x="944582" y="1526977"/>
            <a:ext cx="5086836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服务器需求爆发 → HBM 需求激增 → 原厂将晶圆产能转向 HBM → 常规 DRAM/NAND 可用产能收缩 → 供给不足与价格上涨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17"/>
            <a:ext cx="1447770" cy="762238"/>
          </a:xfrm>
          <a:prstGeom prst="rect">
            <a:avLst/>
          </a:prstGeom>
          <a:gradFill rotWithShape="1">
            <a:gsLst>
              <a:gs pos="0">
                <a:srgbClr val="E53935">
                  <a:alpha val="10000"/>
                </a:srgbClr>
              </a:gs>
              <a:gs pos="100000">
                <a:srgbClr val="1A1A1A"/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075617"/>
            <a:ext cx="1447770" cy="0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71500" y="2184202"/>
            <a:ext cx="1365471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晶圆占用</a:t>
            </a:r>
            <a:endParaRPr lang="en-US" sz="585" dirty="0"/>
          </a:p>
        </p:txBody>
      </p:sp>
      <p:sp>
        <p:nvSpPr>
          <p:cNvPr id="15" name="Text 13"/>
          <p:cNvSpPr/>
          <p:nvPr/>
        </p:nvSpPr>
        <p:spPr>
          <a:xfrm>
            <a:off x="571500" y="2332792"/>
            <a:ext cx="1365471" cy="17145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3× 常规 DRAM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571500" y="2538532"/>
            <a:ext cx="1365471" cy="2078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单位 bit 产出更高，但占用更多先进制程</a:t>
            </a:r>
            <a:endParaRPr lang="en-US" sz="585" dirty="0"/>
          </a:p>
        </p:txBody>
      </p:sp>
      <p:sp>
        <p:nvSpPr>
          <p:cNvPr id="17" name="Shape 15"/>
          <p:cNvSpPr/>
          <p:nvPr/>
        </p:nvSpPr>
        <p:spPr>
          <a:xfrm>
            <a:off x="2019270" y="2075617"/>
            <a:ext cx="1447860" cy="7622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2019270" y="2075617"/>
            <a:ext cx="1447860" cy="0"/>
          </a:xfrm>
          <a:prstGeom prst="line">
            <a:avLst/>
          </a:prstGeom>
          <a:noFill/>
          <a:ln w="1714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2133570" y="2184202"/>
            <a:ext cx="1365571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单价驱动</a:t>
            </a:r>
            <a:endParaRPr lang="en-US" sz="585" dirty="0"/>
          </a:p>
        </p:txBody>
      </p:sp>
      <p:sp>
        <p:nvSpPr>
          <p:cNvPr id="20" name="Text 18"/>
          <p:cNvSpPr/>
          <p:nvPr/>
        </p:nvSpPr>
        <p:spPr>
          <a:xfrm>
            <a:off x="2133570" y="2332792"/>
            <a:ext cx="1365571" cy="17145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3× 常规 DRAM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2133570" y="2538532"/>
            <a:ext cx="1365571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利润率显著更高，强化产能转移动机</a:t>
            </a:r>
            <a:endParaRPr lang="en-US" sz="585" dirty="0"/>
          </a:p>
        </p:txBody>
      </p:sp>
      <p:sp>
        <p:nvSpPr>
          <p:cNvPr id="22" name="Shape 20"/>
          <p:cNvSpPr/>
          <p:nvPr/>
        </p:nvSpPr>
        <p:spPr>
          <a:xfrm>
            <a:off x="3581430" y="2075617"/>
            <a:ext cx="1447770" cy="76223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3581430" y="2075617"/>
            <a:ext cx="1447770" cy="0"/>
          </a:xfrm>
          <a:prstGeom prst="line">
            <a:avLst/>
          </a:prstGeom>
          <a:noFill/>
          <a:ln w="1714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3695730" y="2184202"/>
            <a:ext cx="1365471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营收跃迁</a:t>
            </a:r>
            <a:endParaRPr lang="en-US" sz="585" dirty="0"/>
          </a:p>
        </p:txBody>
      </p:sp>
      <p:sp>
        <p:nvSpPr>
          <p:cNvPr id="25" name="Text 23"/>
          <p:cNvSpPr/>
          <p:nvPr/>
        </p:nvSpPr>
        <p:spPr>
          <a:xfrm>
            <a:off x="3695730" y="2332792"/>
            <a:ext cx="1365471" cy="15430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17% → 50%</a:t>
            </a:r>
            <a:endParaRPr lang="en-US" sz="990" dirty="0"/>
          </a:p>
        </p:txBody>
      </p:sp>
      <p:sp>
        <p:nvSpPr>
          <p:cNvPr id="26" name="Text 24"/>
          <p:cNvSpPr/>
          <p:nvPr/>
        </p:nvSpPr>
        <p:spPr>
          <a:xfrm>
            <a:off x="3695730" y="2521387"/>
            <a:ext cx="1365471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两年内从边缘业务变为核心业务</a:t>
            </a:r>
            <a:endParaRPr lang="en-US" sz="585" dirty="0"/>
          </a:p>
        </p:txBody>
      </p:sp>
      <p:sp>
        <p:nvSpPr>
          <p:cNvPr id="27" name="Shape 25"/>
          <p:cNvSpPr/>
          <p:nvPr/>
        </p:nvSpPr>
        <p:spPr>
          <a:xfrm>
            <a:off x="457200" y="2975015"/>
            <a:ext cx="4572000" cy="1259800"/>
          </a:xfrm>
          <a:prstGeom prst="roundRect">
            <a:avLst>
              <a:gd name="adj" fmla="val 3629"/>
            </a:avLst>
          </a:prstGeom>
          <a:solidFill>
            <a:srgbClr val="161616"/>
          </a:solidFill>
          <a:ln w="5715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34524"/>
              </p:ext>
            </p:extLst>
          </p:nvPr>
        </p:nvGraphicFramePr>
        <p:xfrm>
          <a:off x="462915" y="2980730"/>
          <a:ext cx="4553247" cy="1263282"/>
        </p:xfrm>
        <a:graphic>
          <a:graphicData uri="http://schemas.openxmlformats.org/drawingml/2006/table">
            <a:tbl>
              <a:tblPr/>
              <a:tblGrid>
                <a:gridCol w="1517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7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7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6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指标</a:t>
                      </a:r>
                      <a:endParaRPr lang="en-US" sz="63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数值</a:t>
                      </a:r>
                      <a:endParaRPr lang="en-US" sz="63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说明</a:t>
                      </a:r>
                      <a:endParaRPr lang="en-US" sz="63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HBM 占用晶圆产能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3 倍于常规 DRAM</a:t>
                      </a:r>
                      <a:endParaRPr lang="en-US" sz="81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dirty="0">
                          <a:solidFill>
                            <a:srgbClr val="E0E0E0"/>
                          </a:solidFill>
                        </a:rPr>
                        <a:t>同一晶圆产出 HBM 的 bit 数更多，但占用更多产能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HBM 单价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3 倍于常规 DRAM</a:t>
                      </a:r>
                      <a:endParaRPr lang="en-US" sz="81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dirty="0">
                          <a:solidFill>
                            <a:srgbClr val="E0E0E0"/>
                          </a:solidFill>
                        </a:rPr>
                        <a:t>利润率显著更高，直接驱动晶圆产能转移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6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Micron HBM 营收占比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17% (2023) → 50% (2025)</a:t>
                      </a:r>
                      <a:endParaRPr lang="en-US" sz="81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dirty="0">
                          <a:solidFill>
                            <a:srgbClr val="E0E0E0"/>
                          </a:solidFill>
                        </a:rPr>
                        <a:t>两年内从边缘业务变为核心业务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SK Hynix HBM 产能目标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170k wafers/month (2025)</a:t>
                      </a:r>
                      <a:endParaRPr lang="en-US" sz="81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dirty="0">
                          <a:solidFill>
                            <a:srgbClr val="E0E0E0"/>
                          </a:solidFill>
                        </a:rPr>
                        <a:t>大幅扩张 HBM 产能，挤压常规产品空间</a:t>
                      </a:r>
                      <a:endParaRPr lang="en-US" sz="720" dirty="0"/>
                    </a:p>
                  </a:txBody>
                  <a:tcPr marL="0" marR="0" marT="0" marB="0" anchor="ctr">
                    <a:lnL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6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常规 DRAM 可用产能</a:t>
                      </a:r>
                      <a:endParaRPr lang="en-US" sz="720" dirty="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b="1" dirty="0">
                          <a:solidFill>
                            <a:srgbClr val="FF8A80"/>
                          </a:solidFill>
                        </a:rPr>
                        <a:t>显著收缩</a:t>
                      </a:r>
                      <a:endParaRPr lang="en-US" sz="720" dirty="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20" dirty="0">
                          <a:solidFill>
                            <a:srgbClr val="E0E0E0"/>
                          </a:solidFill>
                        </a:rPr>
                        <a:t>被 HBM 和企业级产品持续挤占</a:t>
                      </a:r>
                      <a:endParaRPr lang="en-US" sz="720" dirty="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372100" y="2369671"/>
            <a:ext cx="3314700" cy="1571089"/>
          </a:xfrm>
          <a:prstGeom prst="roundRect">
            <a:avLst>
              <a:gd name="adj" fmla="val 2910"/>
            </a:avLst>
          </a:prstGeom>
          <a:solidFill>
            <a:srgbClr val="111111"/>
          </a:solidFill>
          <a:ln w="5715">
            <a:solidFill>
              <a:srgbClr val="333333"/>
            </a:solidFill>
            <a:prstDash val="solid"/>
          </a:ln>
          <a:effectLst>
            <a:outerShdw blurRad="381000" dist="1905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30" name="Image 0" descr="/home/wangbo4/.openclaw/workspace/ppt_decks/半导体存储市场研究报告_20260426_015200/images/page_008_inher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15" y="2375386"/>
            <a:ext cx="3303270" cy="1559659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377815" y="2375386"/>
            <a:ext cx="3303270" cy="1559659"/>
          </a:xfrm>
          <a:prstGeom prst="roundRect">
            <a:avLst>
              <a:gd name="adj" fmla="val 2931"/>
            </a:avLst>
          </a:prstGeom>
          <a:solidFill>
            <a:srgbClr val="000000">
              <a:alpha val="1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8"/>
          <p:cNvSpPr/>
          <p:nvPr/>
        </p:nvSpPr>
        <p:spPr>
          <a:xfrm>
            <a:off x="5372100" y="2369671"/>
            <a:ext cx="3303270" cy="1559658"/>
          </a:xfrm>
          <a:prstGeom prst="rect">
            <a:avLst/>
          </a:prstGeom>
          <a:gradFill rotWithShape="1">
            <a:gsLst>
              <a:gs pos="0">
                <a:srgbClr val="E53935">
                  <a:alpha val="15000"/>
                </a:srgbClr>
              </a:gs>
              <a:gs pos="50000">
                <a:srgbClr val="000000">
                  <a:alpha val="0"/>
                </a:srgbClr>
              </a:gs>
            </a:gsLst>
            <a:lin ang="27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29"/>
          <p:cNvSpPr/>
          <p:nvPr/>
        </p:nvSpPr>
        <p:spPr>
          <a:xfrm>
            <a:off x="5514975" y="3620720"/>
            <a:ext cx="2068830" cy="200025"/>
          </a:xfrm>
          <a:prstGeom prst="roundRect">
            <a:avLst>
              <a:gd name="adj" fmla="val 11429"/>
            </a:avLst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0"/>
          <p:cNvSpPr/>
          <p:nvPr/>
        </p:nvSpPr>
        <p:spPr>
          <a:xfrm>
            <a:off x="5514975" y="3620720"/>
            <a:ext cx="2317090" cy="200025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 marL="0" indent="0" algn="l">
              <a:buNone/>
            </a:pPr>
            <a:r>
              <a:rPr lang="en-US" sz="630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HBM 产能挤压示意图：高价值产品抢占先进晶圆资源</a:t>
            </a:r>
            <a:endParaRPr lang="en-US" sz="630" dirty="0"/>
          </a:p>
        </p:txBody>
      </p:sp>
      <p:sp>
        <p:nvSpPr>
          <p:cNvPr id="35" name="Shape 31"/>
          <p:cNvSpPr/>
          <p:nvPr/>
        </p:nvSpPr>
        <p:spPr>
          <a:xfrm>
            <a:off x="457200" y="4406265"/>
            <a:ext cx="8229600" cy="394335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2"/>
          <p:cNvSpPr/>
          <p:nvPr/>
        </p:nvSpPr>
        <p:spPr>
          <a:xfrm>
            <a:off x="457200" y="4406265"/>
            <a:ext cx="8229600" cy="0"/>
          </a:xfrm>
          <a:prstGeom prst="line">
            <a:avLst/>
          </a:prstGeom>
          <a:noFill/>
          <a:ln w="571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3"/>
          <p:cNvSpPr/>
          <p:nvPr/>
        </p:nvSpPr>
        <p:spPr>
          <a:xfrm>
            <a:off x="457200" y="4600575"/>
            <a:ext cx="3680460" cy="125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" kern="0" spc="23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结论：</a:t>
            </a:r>
            <a:r>
              <a:rPr lang="en-US" sz="720" b="1" kern="0" spc="23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需求爆发→HBM 激增→产能转移→常规产能收缩→价格上涨 </a:t>
            </a:r>
            <a:endParaRPr lang="en-US" sz="720" dirty="0"/>
          </a:p>
        </p:txBody>
      </p:sp>
      <p:sp>
        <p:nvSpPr>
          <p:cNvPr id="38" name="Text 34"/>
          <p:cNvSpPr/>
          <p:nvPr/>
        </p:nvSpPr>
        <p:spPr>
          <a:xfrm>
            <a:off x="8343900" y="4526280"/>
            <a:ext cx="658368" cy="2743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60" b="1" dirty="0">
                <a:solidFill>
                  <a:srgbClr val="FFFFFF">
                    <a:alpha val="8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21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53935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457200" y="342900"/>
            <a:ext cx="3657600" cy="445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4114800" y="342900"/>
            <a:ext cx="0" cy="4457700"/>
          </a:xfrm>
          <a:prstGeom prst="line">
            <a:avLst/>
          </a:prstGeom>
          <a:noFill/>
          <a:ln w="5715">
            <a:solidFill>
              <a:srgbClr val="C9A96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342900"/>
            <a:ext cx="3706063" cy="10287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135" dirty="0">
                <a:solidFill>
                  <a:srgbClr val="C9A96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策略分析 / 资本开支周期</a:t>
            </a:r>
            <a:endParaRPr lang="en-US" sz="585" dirty="0"/>
          </a:p>
        </p:txBody>
      </p:sp>
      <p:sp>
        <p:nvSpPr>
          <p:cNvPr id="6" name="Text 4"/>
          <p:cNvSpPr/>
          <p:nvPr/>
        </p:nvSpPr>
        <p:spPr>
          <a:xfrm>
            <a:off x="457200" y="582930"/>
            <a:ext cx="3706063" cy="7359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520" b="1" kern="0" spc="45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资本开支</a:t>
            </a:r>
            <a:endParaRPr lang="en-US" sz="252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520" b="1" kern="0" spc="45" dirty="0">
                <a:solidFill>
                  <a:srgbClr val="E5393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周期策略</a:t>
            </a:r>
            <a:endParaRPr lang="en-US" sz="2520" dirty="0"/>
          </a:p>
        </p:txBody>
      </p:sp>
      <p:sp>
        <p:nvSpPr>
          <p:cNvPr id="7" name="Text 5"/>
          <p:cNvSpPr/>
          <p:nvPr/>
        </p:nvSpPr>
        <p:spPr>
          <a:xfrm>
            <a:off x="457200" y="1490365"/>
            <a:ext cx="3706063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从极度谨慎到选择性扩张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01845"/>
            <a:ext cx="3308985" cy="310753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457200" y="1901845"/>
            <a:ext cx="0" cy="310753"/>
          </a:xfrm>
          <a:prstGeom prst="line">
            <a:avLst/>
          </a:prstGeom>
          <a:noFill/>
          <a:ln w="1714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457200" y="1901845"/>
            <a:ext cx="3706063" cy="310753"/>
          </a:xfrm>
          <a:prstGeom prst="rect">
            <a:avLst/>
          </a:prstGeom>
          <a:noFill/>
          <a:ln/>
        </p:spPr>
        <p:txBody>
          <a:bodyPr wrap="square" lIns="0" tIns="114300" rIns="0" bIns="0" rtlCol="0" anchor="ctr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720" dirty="0">
                <a:solidFill>
                  <a:srgbClr val="C0C0C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资本开支的滞后性决定了短期供给无法快速响应需求。2026 年的产能无法缓解当前短缺，新产能最早 2027 年底投产，2028 年才可能显著影响市场。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457200" y="2441198"/>
            <a:ext cx="1042005" cy="646867"/>
          </a:xfrm>
          <a:prstGeom prst="rect">
            <a:avLst/>
          </a:prstGeom>
          <a:solidFill>
            <a:srgbClr val="FFFFFF">
              <a:alpha val="2000"/>
            </a:srgbClr>
          </a:solidFill>
          <a:ln w="17145">
            <a:solidFill>
              <a:srgbClr val="E53935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31495" y="2549783"/>
            <a:ext cx="1000625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45" dirty="0">
                <a:solidFill>
                  <a:srgbClr val="88888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关键数据</a:t>
            </a:r>
            <a:endParaRPr lang="en-US" sz="540" dirty="0"/>
          </a:p>
        </p:txBody>
      </p:sp>
      <p:sp>
        <p:nvSpPr>
          <p:cNvPr id="13" name="Text 11"/>
          <p:cNvSpPr/>
          <p:nvPr/>
        </p:nvSpPr>
        <p:spPr>
          <a:xfrm>
            <a:off x="531495" y="2692658"/>
            <a:ext cx="1053435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50%</a:t>
            </a:r>
            <a:endParaRPr lang="en-US" sz="1260" dirty="0"/>
          </a:p>
        </p:txBody>
      </p:sp>
      <p:sp>
        <p:nvSpPr>
          <p:cNvPr id="14" name="Text 12"/>
          <p:cNvSpPr/>
          <p:nvPr/>
        </p:nvSpPr>
        <p:spPr>
          <a:xfrm>
            <a:off x="531495" y="2886968"/>
            <a:ext cx="1000625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Samsung 减产幅度</a:t>
            </a:r>
            <a:endParaRPr lang="en-US" sz="585" dirty="0"/>
          </a:p>
        </p:txBody>
      </p:sp>
      <p:sp>
        <p:nvSpPr>
          <p:cNvPr id="15" name="Shape 13"/>
          <p:cNvSpPr/>
          <p:nvPr/>
        </p:nvSpPr>
        <p:spPr>
          <a:xfrm>
            <a:off x="1590645" y="2441198"/>
            <a:ext cx="1042095" cy="646867"/>
          </a:xfrm>
          <a:prstGeom prst="rect">
            <a:avLst/>
          </a:prstGeom>
          <a:solidFill>
            <a:srgbClr val="FFFFFF">
              <a:alpha val="2000"/>
            </a:srgbClr>
          </a:solidFill>
          <a:ln w="17145">
            <a:solidFill>
              <a:srgbClr val="C9A961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664940" y="2549783"/>
            <a:ext cx="1000725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45" dirty="0">
                <a:solidFill>
                  <a:srgbClr val="88888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建设周期</a:t>
            </a:r>
            <a:endParaRPr lang="en-US" sz="540" dirty="0"/>
          </a:p>
        </p:txBody>
      </p:sp>
      <p:sp>
        <p:nvSpPr>
          <p:cNvPr id="17" name="Text 15"/>
          <p:cNvSpPr/>
          <p:nvPr/>
        </p:nvSpPr>
        <p:spPr>
          <a:xfrm>
            <a:off x="1664940" y="2692658"/>
            <a:ext cx="1053525" cy="160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18</a:t>
            </a:r>
            <a:r>
              <a:rPr lang="en-US" sz="720" b="1" dirty="0">
                <a:solidFill>
                  <a:srgbClr val="AAAAA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+ 月</a:t>
            </a:r>
            <a:endParaRPr lang="en-US" sz="1260" dirty="0"/>
          </a:p>
        </p:txBody>
      </p:sp>
      <p:sp>
        <p:nvSpPr>
          <p:cNvPr id="18" name="Text 16"/>
          <p:cNvSpPr/>
          <p:nvPr/>
        </p:nvSpPr>
        <p:spPr>
          <a:xfrm>
            <a:off x="1664940" y="2886968"/>
            <a:ext cx="1000725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新 fab 建设周期</a:t>
            </a:r>
            <a:endParaRPr lang="en-US" sz="585" dirty="0"/>
          </a:p>
        </p:txBody>
      </p:sp>
      <p:sp>
        <p:nvSpPr>
          <p:cNvPr id="19" name="Shape 17"/>
          <p:cNvSpPr/>
          <p:nvPr/>
        </p:nvSpPr>
        <p:spPr>
          <a:xfrm>
            <a:off x="2724180" y="2441198"/>
            <a:ext cx="1042005" cy="646867"/>
          </a:xfrm>
          <a:prstGeom prst="rect">
            <a:avLst/>
          </a:prstGeom>
          <a:solidFill>
            <a:srgbClr val="FFFFFF">
              <a:alpha val="2000"/>
            </a:srgbClr>
          </a:solidFill>
          <a:ln w="17145">
            <a:solidFill>
              <a:srgbClr val="C9A961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2798475" y="2549783"/>
            <a:ext cx="1000625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45" dirty="0">
                <a:solidFill>
                  <a:srgbClr val="88888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平衡时点</a:t>
            </a:r>
            <a:endParaRPr lang="en-US" sz="540" dirty="0"/>
          </a:p>
        </p:txBody>
      </p:sp>
      <p:sp>
        <p:nvSpPr>
          <p:cNvPr id="21" name="Text 19"/>
          <p:cNvSpPr/>
          <p:nvPr/>
        </p:nvSpPr>
        <p:spPr>
          <a:xfrm>
            <a:off x="2798475" y="2692658"/>
            <a:ext cx="1053435" cy="1600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2028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2798475" y="2886968"/>
            <a:ext cx="1000625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AAAA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供需可能再平衡</a:t>
            </a:r>
            <a:endParaRPr lang="en-US" sz="585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000157"/>
              </p:ext>
            </p:extLst>
          </p:nvPr>
        </p:nvGraphicFramePr>
        <p:xfrm>
          <a:off x="457199" y="3360420"/>
          <a:ext cx="2945565" cy="1012698"/>
        </p:xfrm>
        <a:graphic>
          <a:graphicData uri="http://schemas.openxmlformats.org/drawingml/2006/table">
            <a:tbl>
              <a:tblPr/>
              <a:tblGrid>
                <a:gridCol w="981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1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C9A961"/>
                          </a:solidFill>
                        </a:rPr>
                        <a:t>时期</a:t>
                      </a:r>
                      <a:endParaRPr lang="en-US" sz="585" dirty="0"/>
                    </a:p>
                  </a:txBody>
                  <a:tcPr anchor="ctr">
                    <a:lnL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C9A961"/>
                          </a:solidFill>
                        </a:rPr>
                        <a:t>CAPEX 策略</a:t>
                      </a:r>
                      <a:endParaRPr lang="en-US" sz="585" dirty="0"/>
                    </a:p>
                  </a:txBody>
                  <a:tcPr anchor="ctr">
                    <a:lnL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585" b="1" dirty="0">
                          <a:solidFill>
                            <a:srgbClr val="C9A961"/>
                          </a:solidFill>
                        </a:rPr>
                        <a:t>影响</a:t>
                      </a:r>
                      <a:endParaRPr lang="en-US" sz="585" dirty="0"/>
                    </a:p>
                  </a:txBody>
                  <a:tcPr anchor="ctr">
                    <a:lnL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65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en-US" sz="76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9A961"/>
                          </a:solidFill>
                        </a:rPr>
                        <a:t>大幅削减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>
                          <a:solidFill>
                            <a:srgbClr val="B0B0B0"/>
                          </a:solidFill>
                        </a:rPr>
                        <a:t>为后续短缺埋下伏笔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C9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65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en-US" sz="76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9A961"/>
                          </a:solidFill>
                        </a:rPr>
                        <a:t>极度谨慎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>
                          <a:solidFill>
                            <a:srgbClr val="B0B0B0"/>
                          </a:solidFill>
                        </a:rPr>
                        <a:t>产能扩张停滞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65" b="1" dirty="0">
                          <a:solidFill>
                            <a:srgbClr val="FFFFFF"/>
                          </a:solidFill>
                        </a:rPr>
                        <a:t>2025-2026</a:t>
                      </a:r>
                      <a:endParaRPr lang="en-US" sz="76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9A961"/>
                          </a:solidFill>
                        </a:rPr>
                        <a:t>选择性扩张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>
                          <a:solidFill>
                            <a:srgbClr val="B0B0B0"/>
                          </a:solidFill>
                        </a:rPr>
                        <a:t>常规 DRAM 未显著增加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65" b="1" dirty="0">
                          <a:solidFill>
                            <a:srgbClr val="FFFFFF"/>
                          </a:solidFill>
                        </a:rPr>
                        <a:t>2027-2028</a:t>
                      </a:r>
                      <a:endParaRPr lang="en-US" sz="76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C9A961"/>
                          </a:solidFill>
                        </a:rPr>
                        <a:t>新产能陆续投产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>
                          <a:solidFill>
                            <a:srgbClr val="B0B0B0"/>
                          </a:solidFill>
                        </a:rPr>
                        <a:t>供需逐步平衡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457700" y="1565106"/>
            <a:ext cx="4229100" cy="1748076"/>
          </a:xfrm>
          <a:prstGeom prst="rect">
            <a:avLst/>
          </a:prstGeom>
          <a:solidFill>
            <a:srgbClr val="1A1A1A"/>
          </a:solidFill>
          <a:ln w="5715">
            <a:solidFill>
              <a:srgbClr val="C9A961">
                <a:alpha val="30000"/>
              </a:srgbClr>
            </a:solidFill>
            <a:prstDash val="solid"/>
          </a:ln>
          <a:effectLst>
            <a:outerShdw blurRad="476250" dist="190500" dir="162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pic>
        <p:nvPicPr>
          <p:cNvPr id="25" name="Image 0" descr="/home/wangbo4/.openclaw/workspace/ppt_decks/半导体存储市场研究报告_20260426_015200/images/page_009_inherited.png"/>
          <p:cNvPicPr>
            <a:picLocks noChangeAspect="1"/>
          </p:cNvPicPr>
          <p:nvPr/>
        </p:nvPicPr>
        <p:blipFill>
          <a:blip r:embed="rId3"/>
          <a:srcRect t="1" b="1"/>
          <a:stretch/>
        </p:blipFill>
        <p:spPr>
          <a:xfrm>
            <a:off x="4463415" y="1570821"/>
            <a:ext cx="4217670" cy="173664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457700" y="3450342"/>
            <a:ext cx="4229100" cy="127962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3"/>
          <p:cNvSpPr/>
          <p:nvPr/>
        </p:nvSpPr>
        <p:spPr>
          <a:xfrm>
            <a:off x="4457700" y="3450342"/>
            <a:ext cx="0" cy="127962"/>
          </a:xfrm>
          <a:prstGeom prst="line">
            <a:avLst/>
          </a:prstGeom>
          <a:noFill/>
          <a:ln w="1143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4"/>
          <p:cNvSpPr/>
          <p:nvPr/>
        </p:nvSpPr>
        <p:spPr>
          <a:xfrm>
            <a:off x="4457700" y="3450342"/>
            <a:ext cx="4736592" cy="1279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30" dirty="0">
                <a:solidFill>
                  <a:srgbClr val="C9A96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周期图注：</a:t>
            </a:r>
            <a:r>
              <a:rPr lang="en-US" sz="630" dirty="0">
                <a:solidFill>
                  <a:srgbClr val="88888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资本开支的收缩与扩张并非线性，而是受供需错配与投资决策共同驱动的滞后过程。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61070" y="285750"/>
            <a:ext cx="219456" cy="13144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kern="0" spc="90" dirty="0">
                <a:solidFill>
                  <a:srgbClr val="99999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03</a:t>
            </a:r>
            <a:endParaRPr lang="en-US" sz="720" dirty="0"/>
          </a:p>
        </p:txBody>
      </p:sp>
      <p:sp>
        <p:nvSpPr>
          <p:cNvPr id="3" name="Shape 1"/>
          <p:cNvSpPr/>
          <p:nvPr/>
        </p:nvSpPr>
        <p:spPr>
          <a:xfrm>
            <a:off x="457200" y="285750"/>
            <a:ext cx="342900" cy="2286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422910"/>
            <a:ext cx="9217152" cy="30173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80" b="1" kern="0" spc="90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中国大陆厂商与地缘政治</a:t>
            </a:r>
            <a:endParaRPr lang="en-US" sz="1980" dirty="0"/>
          </a:p>
        </p:txBody>
      </p:sp>
      <p:sp>
        <p:nvSpPr>
          <p:cNvPr id="5" name="Text 3"/>
          <p:cNvSpPr/>
          <p:nvPr/>
        </p:nvSpPr>
        <p:spPr>
          <a:xfrm>
            <a:off x="457200" y="793224"/>
            <a:ext cx="9217152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kern="0" spc="45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产能扩张现状与美国出口管制影响</a:t>
            </a:r>
            <a:endParaRPr lang="en-US" sz="810" dirty="0"/>
          </a:p>
        </p:txBody>
      </p:sp>
      <p:sp>
        <p:nvSpPr>
          <p:cNvPr id="6" name="Shape 4"/>
          <p:cNvSpPr/>
          <p:nvPr/>
        </p:nvSpPr>
        <p:spPr>
          <a:xfrm>
            <a:off x="457200" y="1113264"/>
            <a:ext cx="2674620" cy="1028700"/>
          </a:xfrm>
          <a:prstGeom prst="rect">
            <a:avLst/>
          </a:prstGeom>
          <a:solidFill>
            <a:srgbClr val="FFFFFF"/>
          </a:solidFill>
          <a:ln w="22860">
            <a:solidFill>
              <a:srgbClr val="E53935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00075" y="1273284"/>
            <a:ext cx="2675534" cy="17716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YMTC 产能扩张</a:t>
            </a:r>
            <a:endParaRPr lang="en-US" sz="990" dirty="0"/>
          </a:p>
        </p:txBody>
      </p:sp>
      <p:sp>
        <p:nvSpPr>
          <p:cNvPr id="8" name="Text 6"/>
          <p:cNvSpPr/>
          <p:nvPr/>
        </p:nvSpPr>
        <p:spPr>
          <a:xfrm>
            <a:off x="600075" y="1519029"/>
            <a:ext cx="26755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NAND 闪存产能持续爬坡，在成熟制程节点保持投入，扩大基础存储供给。</a:t>
            </a:r>
            <a:endParaRPr lang="en-US" sz="675" dirty="0"/>
          </a:p>
        </p:txBody>
      </p:sp>
      <p:sp>
        <p:nvSpPr>
          <p:cNvPr id="9" name="Text 7"/>
          <p:cNvSpPr/>
          <p:nvPr/>
        </p:nvSpPr>
        <p:spPr>
          <a:xfrm>
            <a:off x="600075" y="1793349"/>
            <a:ext cx="2675534" cy="2628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440" b="1" kern="0" spc="45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400k WSP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3268980" y="1113264"/>
            <a:ext cx="2674620" cy="1028700"/>
          </a:xfrm>
          <a:prstGeom prst="rect">
            <a:avLst/>
          </a:prstGeom>
          <a:solidFill>
            <a:srgbClr val="FFFFFF"/>
          </a:solidFill>
          <a:ln w="22860">
            <a:solidFill>
              <a:srgbClr val="E53935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411855" y="1273284"/>
            <a:ext cx="2675534" cy="17716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美国出口管制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3411855" y="1519029"/>
            <a:ext cx="26755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先进制程设备与 HBM 相关限制持续收紧，高带宽内存扩产面临更高风险。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3411855" y="1793349"/>
            <a:ext cx="2675534" cy="2628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440" b="1" kern="0" spc="45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2028 年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457200" y="2279124"/>
            <a:ext cx="2674620" cy="1028700"/>
          </a:xfrm>
          <a:prstGeom prst="rect">
            <a:avLst/>
          </a:prstGeom>
          <a:solidFill>
            <a:srgbClr val="FFFFFF"/>
          </a:solidFill>
          <a:ln w="22860">
            <a:solidFill>
              <a:srgbClr val="E53935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0075" y="2439144"/>
            <a:ext cx="2675534" cy="17716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全球供应链重构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600075" y="2684889"/>
            <a:ext cx="26755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地缘政治推动供应链加速区域化，客户更重视多元化，但替代成本上升。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600075" y="2959209"/>
            <a:ext cx="2675534" cy="2628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440" b="1" kern="0" spc="45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区域化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3268980" y="2279124"/>
            <a:ext cx="2674620" cy="1028700"/>
          </a:xfrm>
          <a:prstGeom prst="rect">
            <a:avLst/>
          </a:prstGeom>
          <a:solidFill>
            <a:srgbClr val="FFFFFF"/>
          </a:solidFill>
          <a:ln w="22860">
            <a:solidFill>
              <a:srgbClr val="E53935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3411855" y="2439144"/>
            <a:ext cx="2675534" cy="17716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长期协议锁仓</a:t>
            </a:r>
            <a:endParaRPr lang="en-US" sz="990" dirty="0"/>
          </a:p>
        </p:txBody>
      </p:sp>
      <p:sp>
        <p:nvSpPr>
          <p:cNvPr id="20" name="Text 18"/>
          <p:cNvSpPr/>
          <p:nvPr/>
        </p:nvSpPr>
        <p:spPr>
          <a:xfrm>
            <a:off x="3411855" y="2684889"/>
            <a:ext cx="26755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超大规模云服务商提前锁定产能，成熟制程与常规产品议价空间被压缩。</a:t>
            </a:r>
            <a:endParaRPr lang="en-US" sz="675" dirty="0"/>
          </a:p>
        </p:txBody>
      </p:sp>
      <p:sp>
        <p:nvSpPr>
          <p:cNvPr id="21" name="Text 19"/>
          <p:cNvSpPr/>
          <p:nvPr/>
        </p:nvSpPr>
        <p:spPr>
          <a:xfrm>
            <a:off x="3411855" y="2959209"/>
            <a:ext cx="2675534" cy="2628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440" b="1" kern="0" spc="45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 年以上</a:t>
            </a:r>
            <a:endParaRPr lang="en-US" sz="1440" dirty="0"/>
          </a:p>
        </p:txBody>
      </p:sp>
      <p:sp>
        <p:nvSpPr>
          <p:cNvPr id="22" name="Shape 20"/>
          <p:cNvSpPr/>
          <p:nvPr/>
        </p:nvSpPr>
        <p:spPr>
          <a:xfrm>
            <a:off x="6286500" y="1113264"/>
            <a:ext cx="2400300" cy="2624346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6286500" y="1113264"/>
            <a:ext cx="0" cy="2624346"/>
          </a:xfrm>
          <a:prstGeom prst="line">
            <a:avLst/>
          </a:prstGeom>
          <a:noFill/>
          <a:ln w="571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520815" y="1601897"/>
            <a:ext cx="2425903" cy="2800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A1A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叙事重点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520815" y="1601897"/>
            <a:ext cx="228600" cy="1143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520815" y="2019092"/>
            <a:ext cx="2425903" cy="6582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地缘政治正在加剧半导体供给端的复杂性。美国出口管制持续限制中国厂商在先进制程与 HBM 方向的生产能力，而超大规模云服务商的长期协议进一步锁定了剩余高端产能。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6520815" y="2791688"/>
            <a:ext cx="2165985" cy="457200"/>
          </a:xfrm>
          <a:prstGeom prst="rect">
            <a:avLst/>
          </a:prstGeom>
          <a:solidFill>
            <a:srgbClr val="F0EBE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6520815" y="2791688"/>
            <a:ext cx="0" cy="457200"/>
          </a:xfrm>
          <a:prstGeom prst="line">
            <a:avLst/>
          </a:prstGeom>
          <a:noFill/>
          <a:ln w="2286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520815" y="2791688"/>
            <a:ext cx="2425903" cy="457200"/>
          </a:xfrm>
          <a:prstGeom prst="rect">
            <a:avLst/>
          </a:prstGeom>
          <a:noFill/>
          <a:ln/>
        </p:spPr>
        <p:txBody>
          <a:bodyPr wrap="square" lIns="91440" tIns="114300" rIns="114300" bIns="91440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i="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结果是：中国大陆厂商在成熟制程与常规存储上具备扩张空间，但在高附加值环节仍面临外部约束。</a:t>
            </a:r>
            <a:endParaRPr lang="en-US" sz="675" dirty="0"/>
          </a:p>
        </p:txBody>
      </p:sp>
      <p:sp>
        <p:nvSpPr>
          <p:cNvPr id="30" name="Shape 28"/>
          <p:cNvSpPr/>
          <p:nvPr/>
        </p:nvSpPr>
        <p:spPr>
          <a:xfrm>
            <a:off x="457200" y="3966210"/>
            <a:ext cx="8229600" cy="891540"/>
          </a:xfrm>
          <a:prstGeom prst="rect">
            <a:avLst/>
          </a:prstGeom>
          <a:solidFill>
            <a:srgbClr val="FFFFFF"/>
          </a:solidFill>
          <a:ln w="5715">
            <a:solidFill>
              <a:srgbClr val="D0C8B8"/>
            </a:solidFill>
            <a:prstDash val="solid"/>
          </a:ln>
          <a:effectLst>
            <a:outerShdw blurRad="1143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2915" y="3971925"/>
          <a:ext cx="7315200" cy="87325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1A1A1A"/>
                          </a:solidFill>
                        </a:rPr>
                        <a:t>厂商</a:t>
                      </a:r>
                      <a:endParaRPr lang="en-US" sz="72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产品</a:t>
                      </a:r>
                      <a:endParaRPr lang="en-US" sz="72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</a:rPr>
                        <a:t>现状</a:t>
                      </a:r>
                      <a:endParaRPr lang="en-US" sz="72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b="1" dirty="0">
                          <a:solidFill>
                            <a:srgbClr val="555555"/>
                          </a:solidFill>
                        </a:rPr>
                        <a:t>对全球市场影响</a:t>
                      </a:r>
                      <a:endParaRPr lang="en-US" sz="720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YMTC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222222"/>
                          </a:solidFill>
                        </a:rPr>
                        <a:t>NAND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222222"/>
                          </a:solidFill>
                        </a:rPr>
                        <a:t>产能从 200k 增至 400k WSPM，全球份额或超 15%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555555"/>
                          </a:solidFill>
                        </a:rPr>
                        <a:t>对 NAND 市场有一定缓解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1A1A1A"/>
                          </a:solidFill>
                        </a:rPr>
                        <a:t>CXMT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222222"/>
                          </a:solidFill>
                        </a:rPr>
                        <a:t>DRAM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222222"/>
                          </a:solidFill>
                        </a:rPr>
                        <a:t>全球第四大 DRAM 厂商，约 15% 份额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555555"/>
                          </a:solidFill>
                        </a:rPr>
                        <a:t>仅常规 DRAM 无法缓解 HBM 短缺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BE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" y="4686300"/>
            <a:ext cx="228600" cy="228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457200" y="4914900"/>
            <a:ext cx="228600" cy="0"/>
          </a:xfrm>
          <a:prstGeom prst="line">
            <a:avLst/>
          </a:prstGeom>
          <a:noFill/>
          <a:ln w="1143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1"/>
          <p:cNvSpPr/>
          <p:nvPr/>
        </p:nvSpPr>
        <p:spPr>
          <a:xfrm>
            <a:off x="457200" y="4686300"/>
            <a:ext cx="0" cy="228600"/>
          </a:xfrm>
          <a:prstGeom prst="line">
            <a:avLst/>
          </a:prstGeom>
          <a:noFill/>
          <a:ln w="1143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E9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2286000" y="571500"/>
            <a:ext cx="1143000" cy="400050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715000" y="2857500"/>
            <a:ext cx="3429000" cy="228600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42900" y="342900"/>
            <a:ext cx="662940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kern="0" spc="180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第三部分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2900" y="1143000"/>
            <a:ext cx="2560320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kern="0" spc="135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章节过渡</a:t>
            </a:r>
            <a:endParaRPr lang="en-US" sz="810" dirty="0"/>
          </a:p>
        </p:txBody>
      </p:sp>
      <p:sp>
        <p:nvSpPr>
          <p:cNvPr id="8" name="Text 6"/>
          <p:cNvSpPr/>
          <p:nvPr/>
        </p:nvSpPr>
        <p:spPr>
          <a:xfrm>
            <a:off x="342900" y="1428750"/>
            <a:ext cx="2697480" cy="946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240" b="1" kern="0" spc="90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需求与</a:t>
            </a:r>
            <a:endParaRPr lang="en-US" sz="324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240" b="1" kern="0" spc="90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预测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342900" y="2557998"/>
            <a:ext cx="2560320" cy="3702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810" dirty="0">
                <a:solidFill>
                  <a:srgbClr val="A0AAB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服务器到移动端与 PC，需求结构正在加速分化。</a:t>
            </a:r>
            <a:endParaRPr lang="en-US" sz="810" dirty="0"/>
          </a:p>
        </p:txBody>
      </p:sp>
      <p:sp>
        <p:nvSpPr>
          <p:cNvPr id="10" name="Text 8"/>
          <p:cNvSpPr/>
          <p:nvPr/>
        </p:nvSpPr>
        <p:spPr>
          <a:xfrm>
            <a:off x="342900" y="4508063"/>
            <a:ext cx="2560320" cy="2925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20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以高对比视觉建立章节识别，用关键数据与趋势判断，快速进入下一部分。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00400" y="342900"/>
            <a:ext cx="1045845" cy="22860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200400" y="342900"/>
            <a:ext cx="1171346" cy="22860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 marL="0" indent="0" algn="l">
              <a:buNone/>
            </a:pPr>
            <a:r>
              <a:rPr lang="en-US" sz="720" b="1" kern="0" spc="9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服务器需求格局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200400" y="66294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11111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服务器、移动端与 PC 需求分化</a:t>
            </a:r>
            <a:endParaRPr lang="en-US" sz="216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160" b="1" dirty="0">
                <a:solidFill>
                  <a:srgbClr val="11111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及未来趋势</a:t>
            </a:r>
            <a:endParaRPr lang="en-US" sz="2160" dirty="0"/>
          </a:p>
        </p:txBody>
      </p:sp>
      <p:sp>
        <p:nvSpPr>
          <p:cNvPr id="14" name="Shape 12"/>
          <p:cNvSpPr/>
          <p:nvPr/>
        </p:nvSpPr>
        <p:spPr>
          <a:xfrm>
            <a:off x="3200400" y="1485900"/>
            <a:ext cx="5143500" cy="1418302"/>
          </a:xfrm>
          <a:prstGeom prst="rect">
            <a:avLst/>
          </a:prstGeom>
          <a:solidFill>
            <a:srgbClr val="FFFFFF"/>
          </a:solidFill>
          <a:ln/>
          <a:effectLst>
            <a:outerShdw blurRad="381000" dist="1905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200400" y="1485900"/>
            <a:ext cx="0" cy="1418302"/>
          </a:xfrm>
          <a:prstGeom prst="line">
            <a:avLst/>
          </a:prstGeom>
          <a:noFill/>
          <a:ln w="4572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531870" y="1607960"/>
            <a:ext cx="5069434" cy="2286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260" b="1" kern="0" spc="45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核心叙事</a:t>
            </a:r>
            <a:endParaRPr lang="en-US" sz="1260" dirty="0"/>
          </a:p>
        </p:txBody>
      </p:sp>
      <p:sp>
        <p:nvSpPr>
          <p:cNvPr id="17" name="Text 15"/>
          <p:cNvSpPr/>
          <p:nvPr/>
        </p:nvSpPr>
        <p:spPr>
          <a:xfrm>
            <a:off x="3526156" y="1877115"/>
            <a:ext cx="5069434" cy="6410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99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基础设施拉动高带宽存储，高端移动端延续升级，</a:t>
            </a:r>
            <a:endParaRPr lang="en-US" sz="99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99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而传统 PC 仍处周期底部。市场进入</a:t>
            </a:r>
            <a:r>
              <a:rPr lang="en-US" sz="990" b="1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 型分化</a:t>
            </a:r>
            <a:r>
              <a:rPr lang="en-US" sz="99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 增长不再均匀，结构性机会开始主导估值与预期。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3200400" y="2628900"/>
            <a:ext cx="1600200" cy="108585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3337560" y="2800350"/>
            <a:ext cx="1691640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80" b="1" kern="0" spc="-45" dirty="0">
                <a:solidFill>
                  <a:srgbClr val="11111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5-10×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3337560" y="3234690"/>
            <a:ext cx="1484986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服务器存储需求</a:t>
            </a:r>
            <a:endParaRPr lang="en-US" sz="81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显著高于传统服务器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972050" y="2628900"/>
            <a:ext cx="1600200" cy="108585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109210" y="2800350"/>
            <a:ext cx="1691640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80" b="1" kern="0" spc="-45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 万亿</a:t>
            </a:r>
            <a:endParaRPr lang="en-US" sz="2880" dirty="0"/>
          </a:p>
        </p:txBody>
      </p:sp>
      <p:sp>
        <p:nvSpPr>
          <p:cNvPr id="23" name="Text 21"/>
          <p:cNvSpPr/>
          <p:nvPr/>
        </p:nvSpPr>
        <p:spPr>
          <a:xfrm>
            <a:off x="5109210" y="3234690"/>
            <a:ext cx="1484986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 2030 年 AI 相关支出</a:t>
            </a:r>
            <a:endParaRPr lang="en-US" sz="81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有望达到 7 万亿美元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6743700" y="2628900"/>
            <a:ext cx="1600200" cy="108585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80860" y="2800350"/>
            <a:ext cx="1691640" cy="3657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80" b="1" kern="0" spc="-45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近 2000</a:t>
            </a:r>
            <a:endParaRPr lang="en-US" sz="2880" dirty="0"/>
          </a:p>
        </p:txBody>
      </p:sp>
      <p:sp>
        <p:nvSpPr>
          <p:cNvPr id="26" name="Text 24"/>
          <p:cNvSpPr/>
          <p:nvPr/>
        </p:nvSpPr>
        <p:spPr>
          <a:xfrm>
            <a:off x="6880860" y="3234690"/>
            <a:ext cx="1484986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全球在建 AI 数据中心</a:t>
            </a:r>
            <a:endParaRPr lang="en-US" sz="81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数量接近 2000 个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3200400" y="4000500"/>
            <a:ext cx="1562070" cy="57150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3200400" y="4000500"/>
            <a:ext cx="1562070" cy="0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3200400" y="4103370"/>
            <a:ext cx="174951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45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需求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3200400" y="4263390"/>
            <a:ext cx="1749519" cy="15430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算力扩张驱动存储价值量跃升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4991070" y="4000500"/>
            <a:ext cx="1562160" cy="57150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4991070" y="4000500"/>
            <a:ext cx="1562160" cy="0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4991070" y="4103370"/>
            <a:ext cx="174961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45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移动端</a:t>
            </a:r>
            <a:endParaRPr lang="en-US" sz="630" dirty="0"/>
          </a:p>
        </p:txBody>
      </p:sp>
      <p:sp>
        <p:nvSpPr>
          <p:cNvPr id="34" name="Text 32"/>
          <p:cNvSpPr/>
          <p:nvPr/>
        </p:nvSpPr>
        <p:spPr>
          <a:xfrm>
            <a:off x="4991070" y="4263390"/>
            <a:ext cx="1749619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手机推动 LPDDR 升级，全线暴涨 +32%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6781830" y="4000500"/>
            <a:ext cx="1562070" cy="57150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781830" y="4000500"/>
            <a:ext cx="1562070" cy="0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6781830" y="4103370"/>
            <a:ext cx="174951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45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 需求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6781830" y="4263390"/>
            <a:ext cx="1749519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1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出货量预测下调 -11.3%，价格逆势下跌</a:t>
            </a:r>
            <a:endParaRPr lang="en-US" sz="8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11111"/>
              </a:gs>
              <a:gs pos="100000">
                <a:srgbClr val="161616"/>
              </a:gs>
            </a:gsLst>
            <a:lin ang="27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2743200" y="-1543050"/>
            <a:ext cx="9144000" cy="5143500"/>
          </a:xfrm>
          <a:prstGeom prst="ellipse">
            <a:avLst/>
          </a:prstGeom>
          <a:gradFill rotWithShape="1">
            <a:gsLst>
              <a:gs pos="0">
                <a:srgbClr val="D00000">
                  <a:alpha val="12000"/>
                </a:srgbClr>
              </a:gs>
              <a:gs pos="100000">
                <a:srgbClr val="D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616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0" y="4000500"/>
            <a:ext cx="9144000" cy="1143000"/>
          </a:xfrm>
          <a:prstGeom prst="rect">
            <a:avLst/>
          </a:prstGeom>
          <a:gradFill rotWithShape="1">
            <a:gsLst>
              <a:gs pos="0">
                <a:srgbClr val="000000">
                  <a:alpha val="8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00050" y="285750"/>
            <a:ext cx="4224528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180" dirty="0">
                <a:solidFill>
                  <a:srgbClr val="C5A05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INFRASTRUCTURE / DATA CENTER</a:t>
            </a:r>
            <a:endParaRPr lang="en-US" sz="630" dirty="0"/>
          </a:p>
        </p:txBody>
      </p:sp>
      <p:sp>
        <p:nvSpPr>
          <p:cNvPr id="7" name="Text 5"/>
          <p:cNvSpPr/>
          <p:nvPr/>
        </p:nvSpPr>
        <p:spPr>
          <a:xfrm>
            <a:off x="400050" y="491490"/>
            <a:ext cx="4224528" cy="352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20" b="1" kern="0" spc="45" dirty="0">
                <a:solidFill>
                  <a:srgbClr val="F5F0E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服务器与</a:t>
            </a:r>
            <a:r>
              <a:rPr lang="en-US" sz="2520" b="1" kern="0" spc="45" dirty="0">
                <a:solidFill>
                  <a:srgbClr val="D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GPU 需求</a:t>
            </a:r>
            <a:endParaRPr lang="en-US" sz="2520" dirty="0"/>
          </a:p>
        </p:txBody>
      </p:sp>
      <p:sp>
        <p:nvSpPr>
          <p:cNvPr id="8" name="Text 6"/>
          <p:cNvSpPr/>
          <p:nvPr/>
        </p:nvSpPr>
        <p:spPr>
          <a:xfrm>
            <a:off x="400050" y="934938"/>
            <a:ext cx="4224528" cy="17145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00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存储需求爆炸的核心驱动力：从算力投资到内存升级的传导链条正在加速。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0050" y="1334988"/>
            <a:ext cx="3811905" cy="2011680"/>
          </a:xfrm>
          <a:prstGeom prst="rect">
            <a:avLst/>
          </a:prstGeom>
          <a:solidFill>
            <a:srgbClr val="1A1A1A"/>
          </a:solidFill>
          <a:ln w="17145">
            <a:solidFill>
              <a:srgbClr val="D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542925" y="1489293"/>
            <a:ext cx="3949294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b="1" kern="0" spc="45" dirty="0">
                <a:solidFill>
                  <a:srgbClr val="C5A05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相关支出预测趋势</a:t>
            </a:r>
            <a:endParaRPr lang="en-US" sz="720" dirty="0"/>
          </a:p>
        </p:txBody>
      </p:sp>
      <p:graphicFrame>
        <p:nvGraphicFramePr>
          <p:cNvPr id="11" name="Chart 0"/>
          <p:cNvGraphicFramePr/>
          <p:nvPr>
            <p:extLst>
              <p:ext uri="{D42A27DB-BD31-4B8C-83A1-F6EECF244321}">
                <p14:modId xmlns:p14="http://schemas.microsoft.com/office/powerpoint/2010/main" val="1970936281"/>
              </p:ext>
            </p:extLst>
          </p:nvPr>
        </p:nvGraphicFramePr>
        <p:xfrm>
          <a:off x="542925" y="1717893"/>
          <a:ext cx="3526155" cy="1485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400050" y="3518118"/>
            <a:ext cx="1194435" cy="756523"/>
          </a:xfrm>
          <a:prstGeom prst="rect">
            <a:avLst/>
          </a:prstGeom>
          <a:solidFill>
            <a:srgbClr val="FFFFFF">
              <a:alpha val="2000"/>
            </a:srgbClr>
          </a:solidFill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400050" y="3518118"/>
            <a:ext cx="17145" cy="745093"/>
          </a:xfrm>
          <a:prstGeom prst="rect">
            <a:avLst/>
          </a:prstGeom>
          <a:solidFill>
            <a:srgbClr val="D00000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497205" y="3638133"/>
            <a:ext cx="1120140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支出规模</a:t>
            </a:r>
            <a:endParaRPr lang="en-US" sz="585" dirty="0"/>
          </a:p>
        </p:txBody>
      </p:sp>
      <p:sp>
        <p:nvSpPr>
          <p:cNvPr id="15" name="Text 12"/>
          <p:cNvSpPr/>
          <p:nvPr/>
        </p:nvSpPr>
        <p:spPr>
          <a:xfrm>
            <a:off x="497205" y="3810655"/>
            <a:ext cx="1183005" cy="20109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40" b="1" dirty="0">
                <a:solidFill>
                  <a:srgbClr val="D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 万亿</a:t>
            </a:r>
            <a:endParaRPr lang="en-US" sz="1440" dirty="0"/>
          </a:p>
        </p:txBody>
      </p:sp>
      <p:sp>
        <p:nvSpPr>
          <p:cNvPr id="16" name="Text 13"/>
          <p:cNvSpPr/>
          <p:nvPr/>
        </p:nvSpPr>
        <p:spPr>
          <a:xfrm>
            <a:off x="497205" y="4057471"/>
            <a:ext cx="1120140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dirty="0">
                <a:solidFill>
                  <a:srgbClr val="C5A059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2030 年预测 (McKinsey)</a:t>
            </a:r>
            <a:endParaRPr lang="en-US" sz="540" dirty="0"/>
          </a:p>
        </p:txBody>
      </p:sp>
      <p:sp>
        <p:nvSpPr>
          <p:cNvPr id="17" name="Shape 14"/>
          <p:cNvSpPr/>
          <p:nvPr/>
        </p:nvSpPr>
        <p:spPr>
          <a:xfrm>
            <a:off x="1708785" y="3518118"/>
            <a:ext cx="1194435" cy="756523"/>
          </a:xfrm>
          <a:prstGeom prst="rect">
            <a:avLst/>
          </a:prstGeom>
          <a:solidFill>
            <a:srgbClr val="FFFFFF">
              <a:alpha val="2000"/>
            </a:srgbClr>
          </a:solidFill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1708785" y="3518118"/>
            <a:ext cx="17145" cy="745093"/>
          </a:xfrm>
          <a:prstGeom prst="rect">
            <a:avLst/>
          </a:prstGeom>
          <a:solidFill>
            <a:srgbClr val="D00000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1805940" y="3638133"/>
            <a:ext cx="1120140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全球在建数据中心</a:t>
            </a:r>
            <a:endParaRPr lang="en-US" sz="585" dirty="0"/>
          </a:p>
        </p:txBody>
      </p:sp>
      <p:sp>
        <p:nvSpPr>
          <p:cNvPr id="20" name="Text 17"/>
          <p:cNvSpPr/>
          <p:nvPr/>
        </p:nvSpPr>
        <p:spPr>
          <a:xfrm>
            <a:off x="1805940" y="3810655"/>
            <a:ext cx="1183005" cy="20109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2,000</a:t>
            </a:r>
            <a:endParaRPr lang="en-US" sz="1440" dirty="0"/>
          </a:p>
        </p:txBody>
      </p:sp>
      <p:sp>
        <p:nvSpPr>
          <p:cNvPr id="21" name="Text 18"/>
          <p:cNvSpPr/>
          <p:nvPr/>
        </p:nvSpPr>
        <p:spPr>
          <a:xfrm>
            <a:off x="1805940" y="4057471"/>
            <a:ext cx="1120140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dirty="0">
                <a:solidFill>
                  <a:srgbClr val="C5A059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持续拉动需求</a:t>
            </a:r>
            <a:endParaRPr lang="en-US" sz="540" dirty="0"/>
          </a:p>
        </p:txBody>
      </p:sp>
      <p:sp>
        <p:nvSpPr>
          <p:cNvPr id="22" name="Shape 19"/>
          <p:cNvSpPr/>
          <p:nvPr/>
        </p:nvSpPr>
        <p:spPr>
          <a:xfrm>
            <a:off x="3017520" y="3518118"/>
            <a:ext cx="1194435" cy="756523"/>
          </a:xfrm>
          <a:prstGeom prst="rect">
            <a:avLst/>
          </a:prstGeom>
          <a:solidFill>
            <a:srgbClr val="FFFFFF">
              <a:alpha val="2000"/>
            </a:srgbClr>
          </a:solidFill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0"/>
          <p:cNvSpPr/>
          <p:nvPr/>
        </p:nvSpPr>
        <p:spPr>
          <a:xfrm>
            <a:off x="3017520" y="3518118"/>
            <a:ext cx="17145" cy="745093"/>
          </a:xfrm>
          <a:prstGeom prst="rect">
            <a:avLst/>
          </a:prstGeom>
          <a:solidFill>
            <a:srgbClr val="D00000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3114675" y="3638133"/>
            <a:ext cx="1120140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LPDDR4X 96Gb 涨幅</a:t>
            </a:r>
            <a:endParaRPr lang="en-US" sz="585" dirty="0"/>
          </a:p>
        </p:txBody>
      </p:sp>
      <p:sp>
        <p:nvSpPr>
          <p:cNvPr id="25" name="Text 22"/>
          <p:cNvSpPr/>
          <p:nvPr/>
        </p:nvSpPr>
        <p:spPr>
          <a:xfrm>
            <a:off x="3114675" y="3810655"/>
            <a:ext cx="1183005" cy="20109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+64.71%</a:t>
            </a:r>
            <a:endParaRPr lang="en-US" sz="1440" dirty="0"/>
          </a:p>
        </p:txBody>
      </p:sp>
      <p:sp>
        <p:nvSpPr>
          <p:cNvPr id="26" name="Text 23"/>
          <p:cNvSpPr/>
          <p:nvPr/>
        </p:nvSpPr>
        <p:spPr>
          <a:xfrm>
            <a:off x="3114675" y="4057471"/>
            <a:ext cx="1120140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dirty="0">
                <a:solidFill>
                  <a:srgbClr val="C5A059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移动端代表</a:t>
            </a:r>
            <a:endParaRPr lang="en-US" sz="540" dirty="0"/>
          </a:p>
        </p:txBody>
      </p:sp>
      <p:sp>
        <p:nvSpPr>
          <p:cNvPr id="27" name="Shape 24"/>
          <p:cNvSpPr/>
          <p:nvPr/>
        </p:nvSpPr>
        <p:spPr>
          <a:xfrm>
            <a:off x="4554855" y="1334988"/>
            <a:ext cx="4189095" cy="2260283"/>
          </a:xfrm>
          <a:prstGeom prst="rect">
            <a:avLst/>
          </a:prstGeom>
          <a:solidFill>
            <a:srgbClr val="1A1A1A"/>
          </a:solidFill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5"/>
          <p:cNvSpPr/>
          <p:nvPr/>
        </p:nvSpPr>
        <p:spPr>
          <a:xfrm>
            <a:off x="4732020" y="1477863"/>
            <a:ext cx="4294937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核心数据概览</a:t>
            </a:r>
            <a:endParaRPr lang="en-US" sz="810" dirty="0"/>
          </a:p>
        </p:txBody>
      </p:sp>
      <p:sp>
        <p:nvSpPr>
          <p:cNvPr id="29" name="Shape 26"/>
          <p:cNvSpPr/>
          <p:nvPr/>
        </p:nvSpPr>
        <p:spPr>
          <a:xfrm>
            <a:off x="4732020" y="1477863"/>
            <a:ext cx="34290" cy="102870"/>
          </a:xfrm>
          <a:prstGeom prst="rect">
            <a:avLst/>
          </a:prstGeom>
          <a:solidFill>
            <a:srgbClr val="D00000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671172"/>
              </p:ext>
            </p:extLst>
          </p:nvPr>
        </p:nvGraphicFramePr>
        <p:xfrm>
          <a:off x="4732020" y="1740753"/>
          <a:ext cx="3657600" cy="126873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C5A059"/>
                          </a:solidFill>
                        </a:rPr>
                        <a:t>指标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C5A059"/>
                          </a:solidFill>
                        </a:rPr>
                        <a:t>数值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A09D98"/>
                          </a:solidFill>
                        </a:rPr>
                        <a:t>全球在建数据中心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5F0E8"/>
                          </a:solidFill>
                        </a:rPr>
                        <a:t>近 2,000 个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A09D98"/>
                          </a:solidFill>
                        </a:rPr>
                        <a:t>全球数据中心存量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5F0E8"/>
                          </a:solidFill>
                        </a:rPr>
                        <a:t>约 9,000 个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A09D98"/>
                          </a:solidFill>
                        </a:rPr>
                        <a:t>潜在增长空间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5F0E8"/>
                          </a:solidFill>
                        </a:rPr>
                        <a:t>若全部建成增长 20%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A09D98"/>
                          </a:solidFill>
                        </a:rPr>
                        <a:t>AI 相关支出 (2030E)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5F0E8"/>
                          </a:solidFill>
                        </a:rPr>
                        <a:t>7 万亿美元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4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A09D98"/>
                          </a:solidFill>
                        </a:rPr>
                        <a:t>服务器/存储/网络占比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dirty="0">
                          <a:solidFill>
                            <a:srgbClr val="F5F0E8"/>
                          </a:solidFill>
                        </a:rPr>
                        <a:t>3.3 万亿美元</a:t>
                      </a:r>
                      <a:endParaRPr lang="en-US" sz="675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Shape 27"/>
          <p:cNvSpPr/>
          <p:nvPr/>
        </p:nvSpPr>
        <p:spPr>
          <a:xfrm>
            <a:off x="4554855" y="3766721"/>
            <a:ext cx="4189095" cy="878681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8"/>
          <p:cNvSpPr/>
          <p:nvPr/>
        </p:nvSpPr>
        <p:spPr>
          <a:xfrm>
            <a:off x="4554855" y="3766721"/>
            <a:ext cx="4189095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29"/>
          <p:cNvSpPr/>
          <p:nvPr/>
        </p:nvSpPr>
        <p:spPr>
          <a:xfrm>
            <a:off x="4554855" y="3886736"/>
            <a:ext cx="4691786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90" dirty="0">
                <a:solidFill>
                  <a:srgbClr val="C5A05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关键支撑逻辑</a:t>
            </a:r>
            <a:endParaRPr lang="en-US" sz="630" dirty="0"/>
          </a:p>
        </p:txBody>
      </p:sp>
      <p:sp>
        <p:nvSpPr>
          <p:cNvPr id="34" name="Text 30"/>
          <p:cNvSpPr/>
          <p:nvPr/>
        </p:nvSpPr>
        <p:spPr>
          <a:xfrm>
            <a:off x="4554855" y="4092476"/>
            <a:ext cx="4398550" cy="552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■"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服务器对 HBM/DRAM/NAND 需求是传统服务器的 5-10 倍</a:t>
            </a:r>
            <a:endParaRPr lang="en-US" sz="585" dirty="0"/>
          </a:p>
          <a:p>
            <a:pPr marL="342900" indent="-342900" algn="l">
              <a:buSzPct val="100000"/>
              <a:buChar char="■"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单卡 GPU 内存需求大幅增长推动 HBM 升级</a:t>
            </a:r>
            <a:endParaRPr lang="en-US" sz="585" dirty="0"/>
          </a:p>
          <a:p>
            <a:pPr marL="342900" indent="-342900" algn="l">
              <a:buSzPct val="100000"/>
              <a:buChar char="■"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McKinsey 预测至 2030 年 AI 相关支出达 7 万亿美元</a:t>
            </a:r>
            <a:endParaRPr lang="en-US" sz="585" dirty="0"/>
          </a:p>
          <a:p>
            <a:pPr marL="342900" indent="-342900" algn="l">
              <a:buSzPct val="100000"/>
              <a:buChar char="■"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全球在建数据中心近 2,000 个持续拉动需求</a:t>
            </a:r>
            <a:endParaRPr lang="en-US" sz="585" dirty="0"/>
          </a:p>
          <a:p>
            <a:pPr marL="342900" indent="-342900" algn="l">
              <a:buSzPct val="100000"/>
              <a:buChar char="■"/>
            </a:pPr>
            <a:r>
              <a:rPr lang="en-US" sz="58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移动端 LPDDR4X 系列价格涨幅显著由 AI 手机拉动</a:t>
            </a:r>
            <a:endParaRPr lang="en-US" sz="585" dirty="0"/>
          </a:p>
        </p:txBody>
      </p:sp>
      <p:sp>
        <p:nvSpPr>
          <p:cNvPr id="35" name="Shape 31"/>
          <p:cNvSpPr/>
          <p:nvPr/>
        </p:nvSpPr>
        <p:spPr>
          <a:xfrm>
            <a:off x="400050" y="4560570"/>
            <a:ext cx="8343900" cy="29718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2"/>
          <p:cNvSpPr/>
          <p:nvPr/>
        </p:nvSpPr>
        <p:spPr>
          <a:xfrm>
            <a:off x="400050" y="4560570"/>
            <a:ext cx="83439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3"/>
          <p:cNvSpPr/>
          <p:nvPr/>
        </p:nvSpPr>
        <p:spPr>
          <a:xfrm>
            <a:off x="400050" y="4680585"/>
            <a:ext cx="2150669" cy="177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90" b="1" kern="0" spc="90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数据驱动、增长明确、</a:t>
            </a:r>
            <a:r>
              <a:rPr lang="en-US" sz="990" b="1" kern="0" spc="90" dirty="0">
                <a:solidFill>
                  <a:srgbClr val="D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需求刚性</a:t>
            </a:r>
            <a:endParaRPr lang="en-US" sz="990" dirty="0"/>
          </a:p>
        </p:txBody>
      </p:sp>
      <p:sp>
        <p:nvSpPr>
          <p:cNvPr id="38" name="Text 34"/>
          <p:cNvSpPr/>
          <p:nvPr/>
        </p:nvSpPr>
        <p:spPr>
          <a:xfrm>
            <a:off x="7858125" y="4720590"/>
            <a:ext cx="992124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135" dirty="0">
                <a:solidFill>
                  <a:srgbClr val="A09D9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MARKET OVERVIEW</a:t>
            </a:r>
            <a:endParaRPr lang="en-US" sz="5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39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E53935">
              <a:alpha val="8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342900" y="571500"/>
            <a:ext cx="342900" cy="2286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229600" y="4229100"/>
            <a:ext cx="685800" cy="685800"/>
          </a:xfrm>
          <a:prstGeom prst="rect">
            <a:avLst/>
          </a:prstGeom>
          <a:noFill/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42900" y="342900"/>
            <a:ext cx="708660" cy="205740"/>
          </a:xfrm>
          <a:prstGeom prst="rect">
            <a:avLst/>
          </a:prstGeom>
          <a:noFill/>
          <a:ln w="5715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42900" y="342900"/>
            <a:ext cx="800100" cy="205740"/>
          </a:xfrm>
          <a:prstGeom prst="rect">
            <a:avLst/>
          </a:prstGeom>
          <a:noFill/>
          <a:ln/>
        </p:spPr>
        <p:txBody>
          <a:bodyPr wrap="square" lIns="34290" tIns="91440" rIns="91440" bIns="34290" rtlCol="0" anchor="ctr"/>
          <a:lstStyle/>
          <a:p>
            <a:pPr marL="0" indent="0" algn="l">
              <a:buNone/>
            </a:pPr>
            <a:r>
              <a:rPr lang="en-US" sz="720" b="1" kern="0" spc="90" dirty="0">
                <a:solidFill>
                  <a:srgbClr val="E5393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数据展示页</a:t>
            </a:r>
            <a:endParaRPr lang="en-US" sz="720" dirty="0"/>
          </a:p>
        </p:txBody>
      </p:sp>
      <p:sp>
        <p:nvSpPr>
          <p:cNvPr id="8" name="Text 6"/>
          <p:cNvSpPr/>
          <p:nvPr/>
        </p:nvSpPr>
        <p:spPr>
          <a:xfrm>
            <a:off x="342900" y="662940"/>
            <a:ext cx="3590849" cy="40228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80" b="1" kern="0" spc="45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PC 端价格分化详情</a:t>
            </a:r>
            <a:endParaRPr lang="en-US" sz="2880" dirty="0"/>
          </a:p>
        </p:txBody>
      </p:sp>
      <p:sp>
        <p:nvSpPr>
          <p:cNvPr id="9" name="Text 7"/>
          <p:cNvSpPr/>
          <p:nvPr/>
        </p:nvSpPr>
        <p:spPr>
          <a:xfrm>
            <a:off x="342900" y="1156662"/>
            <a:ext cx="3590849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900" dirty="0">
                <a:solidFill>
                  <a:srgbClr val="A09A9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传统计算设备需求疲软的具体表现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2900" y="1568142"/>
            <a:ext cx="1638240" cy="860643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42900" y="1568142"/>
            <a:ext cx="1626809" cy="17145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62915" y="1711017"/>
            <a:ext cx="1565996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kern="0" spc="45" dirty="0">
                <a:solidFill>
                  <a:srgbClr val="88888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PC 平均涨跌幅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462915" y="1888182"/>
            <a:ext cx="1638240" cy="2400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9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+4.32%</a:t>
            </a:r>
            <a:endParaRPr lang="en-US" sz="1890" dirty="0"/>
          </a:p>
        </p:txBody>
      </p:sp>
      <p:sp>
        <p:nvSpPr>
          <p:cNvPr id="14" name="Text 12"/>
          <p:cNvSpPr/>
          <p:nvPr/>
        </p:nvSpPr>
        <p:spPr>
          <a:xfrm>
            <a:off x="462915" y="2173932"/>
            <a:ext cx="1565996" cy="11197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630" dirty="0">
                <a:solidFill>
                  <a:srgbClr val="AAAAA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大类平均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2095440" y="1568142"/>
            <a:ext cx="1638330" cy="860643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2095440" y="1568142"/>
            <a:ext cx="1626900" cy="17145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2215455" y="1711017"/>
            <a:ext cx="1566096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kern="0" spc="45" dirty="0">
                <a:solidFill>
                  <a:srgbClr val="88888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IDC 2026 PC 预测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2215455" y="1888182"/>
            <a:ext cx="1638330" cy="2400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9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-11.3%</a:t>
            </a:r>
            <a:endParaRPr lang="en-US" sz="1890" dirty="0"/>
          </a:p>
        </p:txBody>
      </p:sp>
      <p:sp>
        <p:nvSpPr>
          <p:cNvPr id="19" name="Text 17"/>
          <p:cNvSpPr/>
          <p:nvPr/>
        </p:nvSpPr>
        <p:spPr>
          <a:xfrm>
            <a:off x="2215455" y="2173932"/>
            <a:ext cx="1566096" cy="11197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630" dirty="0">
                <a:solidFill>
                  <a:srgbClr val="AAAAA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出货量同比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3848070" y="1568142"/>
            <a:ext cx="1638330" cy="860643"/>
          </a:xfrm>
          <a:prstGeom prst="rect">
            <a:avLst/>
          </a:prstGeom>
          <a:solidFill>
            <a:srgbClr val="FFFFFF">
              <a:alpha val="3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3848070" y="1568142"/>
            <a:ext cx="1626900" cy="17145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968085" y="1711017"/>
            <a:ext cx="1566096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kern="0" spc="45" dirty="0">
                <a:solidFill>
                  <a:srgbClr val="88888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最大跌幅</a:t>
            </a:r>
            <a:endParaRPr lang="en-US" sz="630" dirty="0"/>
          </a:p>
        </p:txBody>
      </p:sp>
      <p:sp>
        <p:nvSpPr>
          <p:cNvPr id="23" name="Text 21"/>
          <p:cNvSpPr/>
          <p:nvPr/>
        </p:nvSpPr>
        <p:spPr>
          <a:xfrm>
            <a:off x="3968085" y="1888182"/>
            <a:ext cx="1638330" cy="2400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9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-16.00%</a:t>
            </a:r>
            <a:endParaRPr lang="en-US" sz="1890" dirty="0"/>
          </a:p>
        </p:txBody>
      </p:sp>
      <p:sp>
        <p:nvSpPr>
          <p:cNvPr id="24" name="Text 22"/>
          <p:cNvSpPr/>
          <p:nvPr/>
        </p:nvSpPr>
        <p:spPr>
          <a:xfrm>
            <a:off x="3968085" y="2173932"/>
            <a:ext cx="1566096" cy="11197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630" dirty="0">
                <a:solidFill>
                  <a:srgbClr val="AAAAA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DDR4 UDIMM 8GB</a:t>
            </a:r>
            <a:endParaRPr lang="en-US" sz="630" dirty="0"/>
          </a:p>
        </p:txBody>
      </p:sp>
      <p:sp>
        <p:nvSpPr>
          <p:cNvPr id="25" name="Text 23"/>
          <p:cNvSpPr/>
          <p:nvPr/>
        </p:nvSpPr>
        <p:spPr>
          <a:xfrm>
            <a:off x="342900" y="2600236"/>
            <a:ext cx="5760720" cy="15430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核心要点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" y="2600236"/>
            <a:ext cx="34290" cy="11430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42900" y="2868841"/>
            <a:ext cx="540067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D0CCC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DDR4 UDIMM 8GB 跌幅 -16.00%，小容量需求萎缩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D0CCC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SSD SATA 3 120GB 跌幅 -12.50%，小容量承压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D0CCC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DDR4 UDIMM 16GB 跌幅 -10.53%，大容量也未能幸免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D0CCC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PC 出货量预测 IDC 下调至 -11.3%，需求端显著萎缩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5829300" y="1568142"/>
            <a:ext cx="2971800" cy="1240155"/>
          </a:xfrm>
          <a:prstGeom prst="rect">
            <a:avLst/>
          </a:prstGeom>
          <a:solidFill>
            <a:srgbClr val="FFFFFF">
              <a:alpha val="2000"/>
            </a:srgbClr>
          </a:solidFill>
          <a:ln w="571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5972175" y="1711017"/>
            <a:ext cx="3008376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45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机构预测数据</a:t>
            </a:r>
            <a:endParaRPr lang="en-US" sz="81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72175" y="1939617"/>
          <a:ext cx="1828800" cy="809244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机构</a:t>
                      </a:r>
                      <a:endParaRPr lang="en-US" sz="630" dirty="0"/>
                    </a:p>
                  </a:txBody>
                  <a:tcPr anchor="ctr">
                    <a:lnL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2026 年预测</a:t>
                      </a:r>
                      <a:endParaRPr lang="en-US" sz="630" dirty="0"/>
                    </a:p>
                  </a:txBody>
                  <a:tcPr anchor="ctr">
                    <a:lnL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630" b="1" dirty="0">
                          <a:solidFill>
                            <a:srgbClr val="888888"/>
                          </a:solidFill>
                        </a:rPr>
                        <a:t>修订情况</a:t>
                      </a:r>
                      <a:endParaRPr lang="en-US" sz="630" dirty="0"/>
                    </a:p>
                  </a:txBody>
                  <a:tcPr anchor="ctr">
                    <a:lnL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E0DCD7"/>
                          </a:solidFill>
                        </a:rPr>
                        <a:t>IDC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-11.3%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20" dirty="0">
                          <a:solidFill>
                            <a:srgbClr val="E0DCD7"/>
                          </a:solidFill>
                        </a:rPr>
                        <a:t>从-2.4%大幅下调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43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20" dirty="0">
                          <a:solidFill>
                            <a:srgbClr val="E0DCD7"/>
                          </a:solidFill>
                        </a:rPr>
                        <a:t>Counterpoint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10" b="1" dirty="0">
                          <a:solidFill>
                            <a:srgbClr val="E53935"/>
                          </a:solidFill>
                        </a:rPr>
                        <a:t>-4.9%</a:t>
                      </a:r>
                      <a:endParaRPr lang="en-US" sz="81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20" dirty="0">
                          <a:solidFill>
                            <a:srgbClr val="E0DCD7"/>
                          </a:solidFill>
                        </a:rPr>
                        <a:t>—</a:t>
                      </a:r>
                      <a:endParaRPr lang="en-US" sz="720" dirty="0"/>
                    </a:p>
                  </a:txBody>
                  <a:tcPr anchor="ctr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5829300" y="2979747"/>
            <a:ext cx="2971800" cy="795457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29"/>
          <p:cNvSpPr/>
          <p:nvPr/>
        </p:nvSpPr>
        <p:spPr>
          <a:xfrm>
            <a:off x="5966460" y="3116907"/>
            <a:ext cx="3021178" cy="178237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价格下行与需求收缩</a:t>
            </a:r>
            <a:endParaRPr lang="en-US" sz="1080" dirty="0"/>
          </a:p>
        </p:txBody>
      </p:sp>
      <p:sp>
        <p:nvSpPr>
          <p:cNvPr id="33" name="Text 30"/>
          <p:cNvSpPr/>
          <p:nvPr/>
        </p:nvSpPr>
        <p:spPr>
          <a:xfrm>
            <a:off x="5966460" y="3363724"/>
            <a:ext cx="302117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dirty="0">
                <a:solidFill>
                  <a:srgbClr val="FFFFFF">
                    <a:alpha val="90000"/>
                  </a:srgbClr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PC 市场的价格下跌与移动端、AI 服务器暴涨形成鲜明对比，渠道库存压力较大。</a:t>
            </a:r>
            <a:endParaRPr lang="en-US" sz="675" dirty="0"/>
          </a:p>
        </p:txBody>
      </p:sp>
      <p:sp>
        <p:nvSpPr>
          <p:cNvPr id="34" name="Shape 31"/>
          <p:cNvSpPr/>
          <p:nvPr/>
        </p:nvSpPr>
        <p:spPr>
          <a:xfrm>
            <a:off x="5829300" y="3889504"/>
            <a:ext cx="2971800" cy="32914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5829300" y="3889504"/>
            <a:ext cx="0" cy="329148"/>
          </a:xfrm>
          <a:prstGeom prst="line">
            <a:avLst/>
          </a:prstGeom>
          <a:noFill/>
          <a:ln w="1143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/>
          <p:cNvSpPr/>
          <p:nvPr/>
        </p:nvSpPr>
        <p:spPr>
          <a:xfrm>
            <a:off x="5829300" y="3889504"/>
            <a:ext cx="3328416" cy="329148"/>
          </a:xfrm>
          <a:prstGeom prst="rect">
            <a:avLst/>
          </a:prstGeom>
          <a:noFill/>
          <a:ln/>
        </p:spPr>
        <p:txBody>
          <a:bodyPr wrap="square" lIns="0" tIns="91440" rIns="0" bIns="0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720" dirty="0">
                <a:solidFill>
                  <a:srgbClr val="A09A9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传统计算设备需求疲软的具体表现，进一步印证了终端消费意愿的结构性走弱。</a:t>
            </a:r>
            <a:endParaRPr lang="en-US" sz="720" dirty="0"/>
          </a:p>
        </p:txBody>
      </p:sp>
      <p:sp>
        <p:nvSpPr>
          <p:cNvPr id="37" name="Shape 34"/>
          <p:cNvSpPr/>
          <p:nvPr/>
        </p:nvSpPr>
        <p:spPr>
          <a:xfrm>
            <a:off x="342900" y="4520565"/>
            <a:ext cx="8458200" cy="280035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5"/>
          <p:cNvSpPr/>
          <p:nvPr/>
        </p:nvSpPr>
        <p:spPr>
          <a:xfrm>
            <a:off x="342900" y="4520565"/>
            <a:ext cx="84582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6"/>
          <p:cNvSpPr/>
          <p:nvPr/>
        </p:nvSpPr>
        <p:spPr>
          <a:xfrm>
            <a:off x="342900" y="4669155"/>
            <a:ext cx="2649931" cy="12573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kern="0" spc="45" dirty="0">
                <a:solidFill>
                  <a:srgbClr val="88888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PC 端价格分化详情 · 传统计算设备需求疲软的具体表现</a:t>
            </a:r>
            <a:endParaRPr lang="en-US" sz="720" dirty="0"/>
          </a:p>
        </p:txBody>
      </p:sp>
      <p:sp>
        <p:nvSpPr>
          <p:cNvPr id="40" name="Text 37"/>
          <p:cNvSpPr/>
          <p:nvPr/>
        </p:nvSpPr>
        <p:spPr>
          <a:xfrm>
            <a:off x="7886700" y="4663440"/>
            <a:ext cx="1024128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kern="0" spc="90" dirty="0">
                <a:solidFill>
                  <a:srgbClr val="E5393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渠道库存压力较大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F4F6F8"/>
              </a:gs>
              <a:gs pos="100000">
                <a:srgbClr val="E6EBF0"/>
              </a:gs>
            </a:gsLst>
            <a:lin ang="27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BF0">
              <a:alpha val="5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400924" y="4595040"/>
            <a:ext cx="1446581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45" dirty="0">
                <a:solidFill>
                  <a:srgbClr val="90A4A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存储周期 · 趋势研判 · 2026-2027</a:t>
            </a:r>
            <a:endParaRPr lang="en-US" sz="585" dirty="0"/>
          </a:p>
        </p:txBody>
      </p:sp>
      <p:sp>
        <p:nvSpPr>
          <p:cNvPr id="5" name="Shape 3"/>
          <p:cNvSpPr/>
          <p:nvPr/>
        </p:nvSpPr>
        <p:spPr>
          <a:xfrm>
            <a:off x="457200" y="342900"/>
            <a:ext cx="3886200" cy="4457700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  <a:effectLst>
            <a:outerShdw blurRad="285750" dist="9525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342900"/>
            <a:ext cx="3874770" cy="3429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91515" y="577215"/>
            <a:ext cx="3827678" cy="13716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720" b="1" kern="0" spc="90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FIG.7 · HISTORICAL CYCLES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691515" y="828675"/>
            <a:ext cx="3417570" cy="3737610"/>
          </a:xfrm>
          <a:prstGeom prst="rect">
            <a:avLst/>
          </a:prstGeom>
          <a:solidFill>
            <a:srgbClr val="F8FAFC"/>
          </a:solidFill>
          <a:ln w="5715">
            <a:solidFill>
              <a:srgbClr val="E1E6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691515" y="3869055"/>
            <a:ext cx="3406140" cy="685800"/>
          </a:xfrm>
          <a:prstGeom prst="rect">
            <a:avLst/>
          </a:prstGeom>
          <a:gradFill rotWithShape="1">
            <a:gsLst>
              <a:gs pos="0">
                <a:srgbClr val="FFFFFF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0"/>
          </a:gra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0" name="Image 0" descr="/home/wangbo4/.openclaw/workspace/ppt_decks/半导体存储市场研究报告_20260426_015200/images/page_014_inherited.png"/>
          <p:cNvPicPr>
            <a:picLocks noChangeAspect="1"/>
          </p:cNvPicPr>
          <p:nvPr/>
        </p:nvPicPr>
        <p:blipFill>
          <a:blip r:embed="rId3"/>
          <a:srcRect l="31180" r="31180"/>
          <a:stretch/>
        </p:blipFill>
        <p:spPr>
          <a:xfrm>
            <a:off x="697230" y="834390"/>
            <a:ext cx="3406140" cy="37261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686300" y="342900"/>
            <a:ext cx="4480560" cy="3291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60" b="1" kern="0" spc="45" dirty="0">
                <a:solidFill>
                  <a:srgbClr val="1F2A3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周期定位与趋势预测</a:t>
            </a:r>
            <a:endParaRPr lang="en-US" sz="2160" dirty="0"/>
          </a:p>
        </p:txBody>
      </p:sp>
      <p:sp>
        <p:nvSpPr>
          <p:cNvPr id="12" name="Text 9"/>
          <p:cNvSpPr/>
          <p:nvPr/>
        </p:nvSpPr>
        <p:spPr>
          <a:xfrm>
            <a:off x="4686300" y="707857"/>
            <a:ext cx="4480560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90" b="1" kern="0" spc="45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 Q2-Q3 峰值预期与 2027 回落</a:t>
            </a:r>
            <a:endParaRPr lang="en-US" sz="990" dirty="0"/>
          </a:p>
        </p:txBody>
      </p:sp>
      <p:sp>
        <p:nvSpPr>
          <p:cNvPr id="13" name="Text 10"/>
          <p:cNvSpPr/>
          <p:nvPr/>
        </p:nvSpPr>
        <p:spPr>
          <a:xfrm>
            <a:off x="4692014" y="893594"/>
            <a:ext cx="4480560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历史周期对比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97823" y="911543"/>
            <a:ext cx="22860" cy="10287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2"/>
          <p:cNvSpPr/>
          <p:nvPr/>
        </p:nvSpPr>
        <p:spPr>
          <a:xfrm>
            <a:off x="4692014" y="1106569"/>
            <a:ext cx="4000500" cy="1748790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5476061"/>
              </p:ext>
            </p:extLst>
          </p:nvPr>
        </p:nvGraphicFramePr>
        <p:xfrm>
          <a:off x="4697728" y="1112283"/>
          <a:ext cx="3994785" cy="1743075"/>
        </p:xfrm>
        <a:graphic>
          <a:graphicData uri="http://schemas.openxmlformats.org/drawingml/2006/table">
            <a:tbl>
              <a:tblPr/>
              <a:tblGrid>
                <a:gridCol w="798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8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周期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时间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主要驱动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DRAM涨幅(峰值)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持续时间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Windows PC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1993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个人电脑普及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20%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12 个月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云 + 移动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2010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智能手机与云计算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35%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18 个月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云 + NAND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2017-2018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数据中心与 NAND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50%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24 个月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疫情周期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2020-2022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居家经济与供应链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45%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约 20 个月</a:t>
                      </a:r>
                      <a:endParaRPr lang="en-US" sz="675" dirty="0"/>
                    </a:p>
                  </a:txBody>
                  <a:tcPr anchor="ctr">
                    <a:lnL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AI 周期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2023Q4-2026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dirty="0">
                          <a:solidFill>
                            <a:srgbClr val="33414C"/>
                          </a:solidFill>
                        </a:rPr>
                        <a:t>AI 基础设施与训练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Q1 已涨 90-95%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75" b="1" dirty="0">
                          <a:solidFill>
                            <a:srgbClr val="E53935"/>
                          </a:solidFill>
                        </a:rPr>
                        <a:t>预计至 2027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71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703444" y="2890362"/>
            <a:ext cx="4000500" cy="896184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4"/>
          <p:cNvSpPr/>
          <p:nvPr/>
        </p:nvSpPr>
        <p:spPr>
          <a:xfrm>
            <a:off x="4868722" y="3003947"/>
            <a:ext cx="4058107" cy="16573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核心要点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851827" y="3030737"/>
            <a:ext cx="22860" cy="10287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6"/>
          <p:cNvSpPr/>
          <p:nvPr/>
        </p:nvSpPr>
        <p:spPr>
          <a:xfrm>
            <a:off x="4784311" y="3215224"/>
            <a:ext cx="3804476" cy="5420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33414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当前周期定位：处于快速上涨期，四十年一遇级别。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33414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峰值预期：2026 年 Q2-Q3 达到峰值，DRAM/NAND 同步见顶。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33414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回落时间：2026 年 Q4 开始回落，2027 年加速回落。</a:t>
            </a:r>
            <a:endParaRPr lang="en-US" sz="720" dirty="0"/>
          </a:p>
          <a:p>
            <a:pPr marL="342900" indent="-342900" algn="l">
              <a:buSzPct val="100000"/>
              <a:buChar char="•"/>
            </a:pPr>
            <a:r>
              <a:rPr lang="en-US" sz="720" dirty="0">
                <a:solidFill>
                  <a:srgbClr val="33414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历史周期对比：与 2020-2022 疫情周期不同，本轮由 AI 长期资本开支驱动。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714874" y="3856733"/>
            <a:ext cx="1257300" cy="726877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18"/>
          <p:cNvSpPr/>
          <p:nvPr/>
        </p:nvSpPr>
        <p:spPr>
          <a:xfrm>
            <a:off x="4714874" y="3856733"/>
            <a:ext cx="1245870" cy="2286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19"/>
          <p:cNvSpPr/>
          <p:nvPr/>
        </p:nvSpPr>
        <p:spPr>
          <a:xfrm>
            <a:off x="4812029" y="3976748"/>
            <a:ext cx="119054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峰值时间</a:t>
            </a:r>
            <a:endParaRPr lang="en-US" sz="630" dirty="0"/>
          </a:p>
        </p:txBody>
      </p:sp>
      <p:sp>
        <p:nvSpPr>
          <p:cNvPr id="24" name="Text 20"/>
          <p:cNvSpPr/>
          <p:nvPr/>
        </p:nvSpPr>
        <p:spPr>
          <a:xfrm>
            <a:off x="4812029" y="4136768"/>
            <a:ext cx="1200150" cy="20002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 Q2-Q3</a:t>
            </a:r>
            <a:endParaRPr lang="en-US" sz="1080" dirty="0"/>
          </a:p>
        </p:txBody>
      </p:sp>
      <p:sp>
        <p:nvSpPr>
          <p:cNvPr id="25" name="Text 21"/>
          <p:cNvSpPr/>
          <p:nvPr/>
        </p:nvSpPr>
        <p:spPr>
          <a:xfrm>
            <a:off x="4812029" y="4359653"/>
            <a:ext cx="119054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546E7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供需缺口最大化</a:t>
            </a:r>
            <a:endParaRPr lang="en-US" sz="585" dirty="0"/>
          </a:p>
        </p:txBody>
      </p:sp>
      <p:sp>
        <p:nvSpPr>
          <p:cNvPr id="26" name="Shape 22"/>
          <p:cNvSpPr/>
          <p:nvPr/>
        </p:nvSpPr>
        <p:spPr>
          <a:xfrm>
            <a:off x="6086474" y="3856733"/>
            <a:ext cx="1257300" cy="726877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3"/>
          <p:cNvSpPr/>
          <p:nvPr/>
        </p:nvSpPr>
        <p:spPr>
          <a:xfrm>
            <a:off x="6086474" y="3856733"/>
            <a:ext cx="1245870" cy="2286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4"/>
          <p:cNvSpPr/>
          <p:nvPr/>
        </p:nvSpPr>
        <p:spPr>
          <a:xfrm>
            <a:off x="6183629" y="3976748"/>
            <a:ext cx="119054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回落起点</a:t>
            </a:r>
            <a:endParaRPr lang="en-US" sz="630" dirty="0"/>
          </a:p>
        </p:txBody>
      </p:sp>
      <p:sp>
        <p:nvSpPr>
          <p:cNvPr id="29" name="Text 25"/>
          <p:cNvSpPr/>
          <p:nvPr/>
        </p:nvSpPr>
        <p:spPr>
          <a:xfrm>
            <a:off x="6183629" y="4136768"/>
            <a:ext cx="1200150" cy="20002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 Q4</a:t>
            </a:r>
            <a:endParaRPr lang="en-US" sz="1080" dirty="0"/>
          </a:p>
        </p:txBody>
      </p:sp>
      <p:sp>
        <p:nvSpPr>
          <p:cNvPr id="30" name="Text 26"/>
          <p:cNvSpPr/>
          <p:nvPr/>
        </p:nvSpPr>
        <p:spPr>
          <a:xfrm>
            <a:off x="6183629" y="4359653"/>
            <a:ext cx="119054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546E7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新产能开始释放</a:t>
            </a:r>
            <a:endParaRPr lang="en-US" sz="585" dirty="0"/>
          </a:p>
        </p:txBody>
      </p:sp>
      <p:sp>
        <p:nvSpPr>
          <p:cNvPr id="31" name="Shape 27"/>
          <p:cNvSpPr/>
          <p:nvPr/>
        </p:nvSpPr>
        <p:spPr>
          <a:xfrm>
            <a:off x="7458074" y="3856733"/>
            <a:ext cx="1257300" cy="726877"/>
          </a:xfrm>
          <a:prstGeom prst="rect">
            <a:avLst/>
          </a:prstGeom>
          <a:solidFill>
            <a:srgbClr val="FFFFFF"/>
          </a:solidFill>
          <a:ln w="5715">
            <a:solidFill>
              <a:srgbClr val="DCE1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8"/>
          <p:cNvSpPr/>
          <p:nvPr/>
        </p:nvSpPr>
        <p:spPr>
          <a:xfrm>
            <a:off x="7458074" y="3856733"/>
            <a:ext cx="1245870" cy="2286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29"/>
          <p:cNvSpPr/>
          <p:nvPr/>
        </p:nvSpPr>
        <p:spPr>
          <a:xfrm>
            <a:off x="7555229" y="3976748"/>
            <a:ext cx="1190549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加速回落</a:t>
            </a:r>
            <a:endParaRPr lang="en-US" sz="630" dirty="0"/>
          </a:p>
        </p:txBody>
      </p:sp>
      <p:sp>
        <p:nvSpPr>
          <p:cNvPr id="34" name="Text 30"/>
          <p:cNvSpPr/>
          <p:nvPr/>
        </p:nvSpPr>
        <p:spPr>
          <a:xfrm>
            <a:off x="7555229" y="4136768"/>
            <a:ext cx="1200150" cy="20002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2027 年</a:t>
            </a:r>
            <a:endParaRPr lang="en-US" sz="1080" dirty="0"/>
          </a:p>
        </p:txBody>
      </p:sp>
      <p:sp>
        <p:nvSpPr>
          <p:cNvPr id="35" name="Text 31"/>
          <p:cNvSpPr/>
          <p:nvPr/>
        </p:nvSpPr>
        <p:spPr>
          <a:xfrm>
            <a:off x="7555229" y="4359653"/>
            <a:ext cx="119054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546E7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进入下行通道</a:t>
            </a:r>
            <a:endParaRPr lang="en-US" sz="585" dirty="0"/>
          </a:p>
        </p:txBody>
      </p:sp>
      <p:sp>
        <p:nvSpPr>
          <p:cNvPr id="36" name="Shape 32"/>
          <p:cNvSpPr/>
          <p:nvPr/>
        </p:nvSpPr>
        <p:spPr>
          <a:xfrm>
            <a:off x="4714874" y="4755060"/>
            <a:ext cx="4000500" cy="32914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3"/>
          <p:cNvSpPr/>
          <p:nvPr/>
        </p:nvSpPr>
        <p:spPr>
          <a:xfrm>
            <a:off x="4714874" y="4755060"/>
            <a:ext cx="0" cy="329148"/>
          </a:xfrm>
          <a:prstGeom prst="line">
            <a:avLst/>
          </a:prstGeom>
          <a:noFill/>
          <a:ln w="2286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4"/>
          <p:cNvSpPr/>
          <p:nvPr/>
        </p:nvSpPr>
        <p:spPr>
          <a:xfrm>
            <a:off x="4852034" y="4755060"/>
            <a:ext cx="4326941" cy="3291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810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价格将在</a:t>
            </a:r>
            <a:r>
              <a:rPr lang="en-US" sz="810" b="1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 年下半年见顶</a:t>
            </a:r>
            <a:r>
              <a:rPr lang="en-US" sz="810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，随后因新产能逐步释放和需求自然回落而进入下行通道，但</a:t>
            </a:r>
            <a:r>
              <a:rPr lang="en-US" sz="810" b="1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基础设施的长期投入</a:t>
            </a:r>
            <a:r>
              <a:rPr lang="en-US" sz="810" dirty="0">
                <a:solidFill>
                  <a:srgbClr val="1F2A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将支撑底部高于上一周期。</a:t>
            </a:r>
            <a:endParaRPr lang="en-US" sz="8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42900" y="360045"/>
            <a:ext cx="972922" cy="1143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630" b="1" kern="0" spc="90" dirty="0">
                <a:solidFill>
                  <a:srgbClr val="E539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RISK &amp; STRATEGY</a:t>
            </a:r>
            <a:endParaRPr lang="en-US" sz="630" dirty="0"/>
          </a:p>
        </p:txBody>
      </p:sp>
      <p:sp>
        <p:nvSpPr>
          <p:cNvPr id="4" name="Text 2"/>
          <p:cNvSpPr/>
          <p:nvPr/>
        </p:nvSpPr>
        <p:spPr>
          <a:xfrm>
            <a:off x="342900" y="565785"/>
            <a:ext cx="3328416" cy="6000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90" b="1" kern="0" spc="45" dirty="0">
                <a:solidFill>
                  <a:srgbClr val="11111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风险因素与</a:t>
            </a:r>
            <a:endParaRPr lang="en-US" sz="189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890" b="1" kern="0" spc="45" dirty="0">
                <a:solidFill>
                  <a:srgbClr val="111111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产业链建议</a:t>
            </a:r>
            <a:endParaRPr lang="en-US" sz="1890" dirty="0"/>
          </a:p>
        </p:txBody>
      </p:sp>
      <p:sp>
        <p:nvSpPr>
          <p:cNvPr id="5" name="Text 3"/>
          <p:cNvSpPr/>
          <p:nvPr/>
        </p:nvSpPr>
        <p:spPr>
          <a:xfrm>
            <a:off x="342900" y="1257300"/>
            <a:ext cx="3328416" cy="1462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72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多情景分析与各方应对策略</a:t>
            </a:r>
            <a:endParaRPr lang="en-US" sz="720" dirty="0"/>
          </a:p>
        </p:txBody>
      </p:sp>
      <p:sp>
        <p:nvSpPr>
          <p:cNvPr id="6" name="Shape 4"/>
          <p:cNvSpPr/>
          <p:nvPr/>
        </p:nvSpPr>
        <p:spPr>
          <a:xfrm>
            <a:off x="342900" y="1632168"/>
            <a:ext cx="2971800" cy="2312789"/>
          </a:xfrm>
          <a:prstGeom prst="rect">
            <a:avLst/>
          </a:prstGeom>
          <a:solidFill>
            <a:srgbClr val="FFFFFF"/>
          </a:solidFill>
          <a:ln/>
          <a:effectLst>
            <a:outerShdw blurRad="285750" dist="9525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42900" y="1632168"/>
            <a:ext cx="2971800" cy="0"/>
          </a:xfrm>
          <a:prstGeom prst="line">
            <a:avLst/>
          </a:prstGeom>
          <a:noFill/>
          <a:ln w="2286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8" name="Image 0" descr="/home/wangbo4/.openclaw/workspace/ppt_decks/半导体存储市场研究报告_20260426_015200/images/page_015_inher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23608"/>
            <a:ext cx="2834640" cy="19756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3767792"/>
            <a:ext cx="3174797" cy="1085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r">
              <a:buNone/>
            </a:pPr>
            <a:r>
              <a:rPr lang="en-US" sz="585" kern="0" spc="45" dirty="0">
                <a:solidFill>
                  <a:srgbClr val="78909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FIG.9 · RISK MATRIX</a:t>
            </a:r>
            <a:endParaRPr lang="en-US" sz="585" dirty="0"/>
          </a:p>
        </p:txBody>
      </p:sp>
      <p:sp>
        <p:nvSpPr>
          <p:cNvPr id="10" name="Shape 7"/>
          <p:cNvSpPr/>
          <p:nvPr/>
        </p:nvSpPr>
        <p:spPr>
          <a:xfrm>
            <a:off x="342900" y="4119443"/>
            <a:ext cx="2971800" cy="681157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8"/>
          <p:cNvSpPr/>
          <p:nvPr/>
        </p:nvSpPr>
        <p:spPr>
          <a:xfrm>
            <a:off x="342900" y="4119443"/>
            <a:ext cx="2971800" cy="0"/>
          </a:xfrm>
          <a:prstGeom prst="line">
            <a:avLst/>
          </a:prstGeom>
          <a:noFill/>
          <a:ln w="5715">
            <a:solidFill>
              <a:srgbClr val="E0D8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342900" y="4296608"/>
            <a:ext cx="929580" cy="50399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>
            <a:off x="342900" y="4296608"/>
            <a:ext cx="0" cy="503992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428625" y="4388048"/>
            <a:ext cx="958155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428625" y="4605218"/>
            <a:ext cx="86830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核心风险因素</a:t>
            </a:r>
            <a:endParaRPr lang="en-US" sz="585" dirty="0"/>
          </a:p>
        </p:txBody>
      </p:sp>
      <p:sp>
        <p:nvSpPr>
          <p:cNvPr id="16" name="Shape 13"/>
          <p:cNvSpPr/>
          <p:nvPr/>
        </p:nvSpPr>
        <p:spPr>
          <a:xfrm>
            <a:off x="1363920" y="4296608"/>
            <a:ext cx="929670" cy="50399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1363920" y="4296608"/>
            <a:ext cx="0" cy="503992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1449645" y="4388048"/>
            <a:ext cx="958245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40" dirty="0"/>
          </a:p>
        </p:txBody>
      </p:sp>
      <p:sp>
        <p:nvSpPr>
          <p:cNvPr id="19" name="Text 16"/>
          <p:cNvSpPr/>
          <p:nvPr/>
        </p:nvSpPr>
        <p:spPr>
          <a:xfrm>
            <a:off x="1449645" y="4605218"/>
            <a:ext cx="86840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情景分析路径</a:t>
            </a:r>
            <a:endParaRPr lang="en-US" sz="585" dirty="0"/>
          </a:p>
        </p:txBody>
      </p:sp>
      <p:sp>
        <p:nvSpPr>
          <p:cNvPr id="20" name="Shape 17"/>
          <p:cNvSpPr/>
          <p:nvPr/>
        </p:nvSpPr>
        <p:spPr>
          <a:xfrm>
            <a:off x="2385030" y="4296608"/>
            <a:ext cx="929670" cy="50399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8"/>
          <p:cNvSpPr/>
          <p:nvPr/>
        </p:nvSpPr>
        <p:spPr>
          <a:xfrm>
            <a:off x="2385030" y="4296608"/>
            <a:ext cx="0" cy="503992"/>
          </a:xfrm>
          <a:prstGeom prst="line">
            <a:avLst/>
          </a:prstGeom>
          <a:noFill/>
          <a:ln w="17145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19"/>
          <p:cNvSpPr/>
          <p:nvPr/>
        </p:nvSpPr>
        <p:spPr>
          <a:xfrm>
            <a:off x="2470755" y="4388048"/>
            <a:ext cx="958245" cy="1828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40" b="1" dirty="0">
                <a:solidFill>
                  <a:srgbClr val="E539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40" dirty="0"/>
          </a:p>
        </p:txBody>
      </p:sp>
      <p:sp>
        <p:nvSpPr>
          <p:cNvPr id="23" name="Text 20"/>
          <p:cNvSpPr/>
          <p:nvPr/>
        </p:nvSpPr>
        <p:spPr>
          <a:xfrm>
            <a:off x="2470755" y="4605218"/>
            <a:ext cx="868409" cy="1039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58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产业链建议对象</a:t>
            </a:r>
            <a:endParaRPr lang="en-US" sz="585" dirty="0"/>
          </a:p>
        </p:txBody>
      </p:sp>
      <p:sp>
        <p:nvSpPr>
          <p:cNvPr id="24" name="Shape 21"/>
          <p:cNvSpPr/>
          <p:nvPr/>
        </p:nvSpPr>
        <p:spPr>
          <a:xfrm>
            <a:off x="3657600" y="342901"/>
            <a:ext cx="2514600" cy="778222"/>
          </a:xfrm>
          <a:prstGeom prst="rect">
            <a:avLst/>
          </a:prstGeom>
          <a:solidFill>
            <a:srgbClr val="FFFFFF"/>
          </a:solidFill>
          <a:ln w="5715">
            <a:solidFill>
              <a:srgbClr val="E0D8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2"/>
          <p:cNvSpPr/>
          <p:nvPr/>
        </p:nvSpPr>
        <p:spPr>
          <a:xfrm>
            <a:off x="3657600" y="342900"/>
            <a:ext cx="22860" cy="76832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 dirty="0"/>
          </a:p>
        </p:txBody>
      </p:sp>
      <p:sp>
        <p:nvSpPr>
          <p:cNvPr id="26" name="Text 23"/>
          <p:cNvSpPr/>
          <p:nvPr/>
        </p:nvSpPr>
        <p:spPr>
          <a:xfrm>
            <a:off x="3777615" y="462915"/>
            <a:ext cx="2547518" cy="1188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720" dirty="0"/>
          </a:p>
          <a:p>
            <a:pPr marL="0" indent="0" algn="l">
              <a:buNone/>
            </a:pPr>
            <a:r>
              <a:rPr lang="en-US" sz="72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主要风险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77615" y="668656"/>
            <a:ext cx="2388299" cy="3920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地缘政治升级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投资不及预期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新产能提前释放</a:t>
            </a:r>
            <a:endParaRPr lang="en-US" sz="630" dirty="0"/>
          </a:p>
        </p:txBody>
      </p:sp>
      <p:sp>
        <p:nvSpPr>
          <p:cNvPr id="28" name="Shape 25"/>
          <p:cNvSpPr/>
          <p:nvPr/>
        </p:nvSpPr>
        <p:spPr>
          <a:xfrm>
            <a:off x="6286500" y="342901"/>
            <a:ext cx="2514600" cy="778222"/>
          </a:xfrm>
          <a:prstGeom prst="rect">
            <a:avLst/>
          </a:prstGeom>
          <a:solidFill>
            <a:srgbClr val="FFFFFF"/>
          </a:solidFill>
          <a:ln w="5715">
            <a:solidFill>
              <a:srgbClr val="E0D8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6"/>
          <p:cNvSpPr/>
          <p:nvPr/>
        </p:nvSpPr>
        <p:spPr>
          <a:xfrm>
            <a:off x="6286500" y="342900"/>
            <a:ext cx="22860" cy="76832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7"/>
          <p:cNvSpPr/>
          <p:nvPr/>
        </p:nvSpPr>
        <p:spPr>
          <a:xfrm>
            <a:off x="6406515" y="462915"/>
            <a:ext cx="254751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720" dirty="0"/>
          </a:p>
          <a:p>
            <a:pPr marL="0" indent="0" algn="l">
              <a:buNone/>
            </a:pPr>
            <a:r>
              <a:rPr lang="en-US" sz="72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多情景分析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6406515" y="668656"/>
            <a:ext cx="2388299" cy="3920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基准：2027 年回落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乐观：2026 Q4 回落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悲观：周期延长</a:t>
            </a:r>
            <a:endParaRPr lang="en-US" sz="630" dirty="0"/>
          </a:p>
        </p:txBody>
      </p:sp>
      <p:sp>
        <p:nvSpPr>
          <p:cNvPr id="32" name="Shape 29"/>
          <p:cNvSpPr/>
          <p:nvPr/>
        </p:nvSpPr>
        <p:spPr>
          <a:xfrm>
            <a:off x="3657600" y="1205537"/>
            <a:ext cx="2514600" cy="735985"/>
          </a:xfrm>
          <a:prstGeom prst="rect">
            <a:avLst/>
          </a:prstGeom>
          <a:solidFill>
            <a:srgbClr val="FFFFFF"/>
          </a:solidFill>
          <a:ln w="5715">
            <a:solidFill>
              <a:srgbClr val="E0D8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3657600" y="1205537"/>
            <a:ext cx="22860" cy="724553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3777615" y="1325552"/>
            <a:ext cx="254751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720" dirty="0"/>
          </a:p>
          <a:p>
            <a:pPr marL="0" indent="0" algn="l">
              <a:buNone/>
            </a:pPr>
            <a:r>
              <a:rPr lang="en-US" sz="72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原厂建议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3777615" y="1531292"/>
            <a:ext cx="2388299" cy="29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平衡 HBM 与常规产能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避免过度追逐短期利润</a:t>
            </a:r>
            <a:endParaRPr lang="en-US" sz="630" dirty="0"/>
          </a:p>
        </p:txBody>
      </p:sp>
      <p:sp>
        <p:nvSpPr>
          <p:cNvPr id="36" name="Shape 33"/>
          <p:cNvSpPr/>
          <p:nvPr/>
        </p:nvSpPr>
        <p:spPr>
          <a:xfrm>
            <a:off x="6286500" y="1205537"/>
            <a:ext cx="2514600" cy="735985"/>
          </a:xfrm>
          <a:prstGeom prst="rect">
            <a:avLst/>
          </a:prstGeom>
          <a:solidFill>
            <a:srgbClr val="FFFFFF"/>
          </a:solidFill>
          <a:ln w="5715">
            <a:solidFill>
              <a:srgbClr val="E0D8D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4"/>
          <p:cNvSpPr/>
          <p:nvPr/>
        </p:nvSpPr>
        <p:spPr>
          <a:xfrm>
            <a:off x="6286500" y="1205537"/>
            <a:ext cx="22860" cy="724553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5"/>
          <p:cNvSpPr/>
          <p:nvPr/>
        </p:nvSpPr>
        <p:spPr>
          <a:xfrm>
            <a:off x="6406515" y="1325552"/>
            <a:ext cx="2547518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30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720" dirty="0"/>
          </a:p>
          <a:p>
            <a:pPr marL="0" indent="0" algn="l">
              <a:buNone/>
            </a:pPr>
            <a:r>
              <a:rPr lang="en-US" sz="720" b="1" dirty="0">
                <a:solidFill>
                  <a:srgbClr val="11111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下游建议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6406515" y="1531292"/>
            <a:ext cx="2388299" cy="29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提前锁单，多元化供应商</a:t>
            </a:r>
            <a:endParaRPr lang="en-US" sz="630" dirty="0"/>
          </a:p>
          <a:p>
            <a:pPr marL="342900" indent="-342900" algn="l">
              <a:buSzPct val="100000"/>
              <a:buChar char="•"/>
            </a:pPr>
            <a:r>
              <a:rPr lang="en-US" sz="630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关注替代技术路线</a:t>
            </a:r>
            <a:endParaRPr lang="en-US" sz="630" dirty="0"/>
          </a:p>
        </p:txBody>
      </p:sp>
      <p:sp>
        <p:nvSpPr>
          <p:cNvPr id="40" name="Shape 37"/>
          <p:cNvSpPr/>
          <p:nvPr/>
        </p:nvSpPr>
        <p:spPr>
          <a:xfrm>
            <a:off x="3657600" y="2112972"/>
            <a:ext cx="5143500" cy="2423159"/>
          </a:xfrm>
          <a:prstGeom prst="rect">
            <a:avLst/>
          </a:prstGeom>
          <a:solidFill>
            <a:srgbClr val="FFFFFF"/>
          </a:solidFill>
          <a:ln/>
          <a:effectLst>
            <a:outerShdw blurRad="285750" dist="9525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8"/>
          <p:cNvSpPr/>
          <p:nvPr/>
        </p:nvSpPr>
        <p:spPr>
          <a:xfrm>
            <a:off x="3657600" y="2112972"/>
            <a:ext cx="5143500" cy="0"/>
          </a:xfrm>
          <a:prstGeom prst="line">
            <a:avLst/>
          </a:prstGeom>
          <a:noFill/>
          <a:ln w="2286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83744"/>
              </p:ext>
            </p:extLst>
          </p:nvPr>
        </p:nvGraphicFramePr>
        <p:xfrm>
          <a:off x="3794760" y="2194458"/>
          <a:ext cx="4572000" cy="22402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3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风险因素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概率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影响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75" b="1" dirty="0">
                          <a:solidFill>
                            <a:srgbClr val="FFFFFF"/>
                          </a:solidFill>
                        </a:rPr>
                        <a:t>对价格的方向</a:t>
                      </a:r>
                      <a:endParaRPr lang="en-US" sz="675" dirty="0"/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539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AI 需求不及预期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78909C"/>
                          </a:solidFill>
                        </a:rPr>
                        <a:t>低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E53935"/>
                          </a:solidFill>
                        </a:rPr>
                        <a:t>高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价格提前回落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原厂超预期扩产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E53935"/>
                          </a:solidFill>
                        </a:rPr>
                        <a:t>高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价格提前回落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美国 100% 关税实施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价格进一步上涨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中国出口管制升级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市场分化加剧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YMTC/CXMT 产能超预期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78909C"/>
                          </a:solidFill>
                        </a:rPr>
                        <a:t>低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9A961"/>
                          </a:solidFill>
                        </a:rPr>
                        <a:t>中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常规 DRAM 价格提前回落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全球经济衰退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78909C"/>
                          </a:solidFill>
                        </a:rPr>
                        <a:t>低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E53935"/>
                          </a:solidFill>
                        </a:rPr>
                        <a:t>高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需求骤降，价格暴跌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111111"/>
                          </a:solidFill>
                        </a:rPr>
                        <a:t>地缘政治冲突升级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78909C"/>
                          </a:solidFill>
                        </a:rPr>
                        <a:t>低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71C1C"/>
                          </a:solidFill>
                        </a:rPr>
                        <a:t>极高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dirty="0">
                          <a:solidFill>
                            <a:srgbClr val="333333"/>
                          </a:solidFill>
                        </a:rPr>
                        <a:t>供应链中断，价格暴涨</a:t>
                      </a:r>
                      <a:endParaRPr lang="en-US" sz="630" dirty="0"/>
                    </a:p>
                  </a:txBody>
                  <a:tcPr anchor="ctr">
                    <a:lnL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0E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3651314" y="4617616"/>
            <a:ext cx="5143500" cy="4572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0"/>
          <p:cNvSpPr/>
          <p:nvPr/>
        </p:nvSpPr>
        <p:spPr>
          <a:xfrm>
            <a:off x="3657600" y="4622732"/>
            <a:ext cx="0" cy="457200"/>
          </a:xfrm>
          <a:prstGeom prst="line">
            <a:avLst/>
          </a:prstGeom>
          <a:noFill/>
          <a:ln w="3429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1"/>
          <p:cNvSpPr/>
          <p:nvPr/>
        </p:nvSpPr>
        <p:spPr>
          <a:xfrm>
            <a:off x="3651314" y="4654205"/>
            <a:ext cx="51434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675" b="1" dirty="0">
                <a:solidFill>
                  <a:srgbClr val="C9A96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总结：</a:t>
            </a:r>
            <a:r>
              <a:rPr lang="en-US" sz="675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产业链各方需差异化应对，原厂应平衡短期利润与长期产能布局，下游客户需通过长期协议锁定产能并关注供应链多元化以降低风险。</a:t>
            </a:r>
            <a:endParaRPr lang="en-US" sz="6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57400"/>
            <a:ext cx="12801600" cy="7200900"/>
          </a:xfrm>
          <a:prstGeom prst="ellipse">
            <a:avLst/>
          </a:prstGeom>
          <a:gradFill rotWithShape="1">
            <a:gsLst>
              <a:gs pos="0">
                <a:srgbClr val="1A1D24">
                  <a:alpha val="40000"/>
                </a:srgbClr>
              </a:gs>
              <a:gs pos="100000">
                <a:srgbClr val="1A1D2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/home/wangbo4/.openclaw/workspace/ppt_decks/半导体存储市场研究报告_20260426_015200/images/page_016_hero.png"/>
          <p:cNvPicPr>
            <a:picLocks noChangeAspect="1"/>
          </p:cNvPicPr>
          <p:nvPr/>
        </p:nvPicPr>
        <p:blipFill>
          <a:blip r:embed="rId3"/>
          <a:srcRect t="23125" b="23125"/>
          <a:stretch/>
        </p:blipFill>
        <p:spPr>
          <a:xfrm>
            <a:off x="1714500" y="3429000"/>
            <a:ext cx="5715000" cy="1714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14500" y="3429000"/>
            <a:ext cx="5715000" cy="1714500"/>
          </a:xfrm>
          <a:prstGeom prst="rect">
            <a:avLst/>
          </a:prstGeom>
          <a:solidFill>
            <a:srgbClr val="000000">
              <a:alpha val="8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14500" y="3429000"/>
            <a:ext cx="5715000" cy="1714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457200"/>
            <a:ext cx="8961120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630" kern="0" spc="27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&amp; OUTLOOK</a:t>
            </a:r>
            <a:endParaRPr lang="en-US" sz="630" dirty="0"/>
          </a:p>
        </p:txBody>
      </p:sp>
      <p:sp>
        <p:nvSpPr>
          <p:cNvPr id="7" name="Text 3"/>
          <p:cNvSpPr/>
          <p:nvPr/>
        </p:nvSpPr>
        <p:spPr>
          <a:xfrm>
            <a:off x="571500" y="691515"/>
            <a:ext cx="8961120" cy="40228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80" b="1" kern="0" spc="90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结论与展望</a:t>
            </a:r>
            <a:endParaRPr lang="en-US" sz="2880" dirty="0"/>
          </a:p>
        </p:txBody>
      </p:sp>
      <p:sp>
        <p:nvSpPr>
          <p:cNvPr id="8" name="Text 4"/>
          <p:cNvSpPr/>
          <p:nvPr/>
        </p:nvSpPr>
        <p:spPr>
          <a:xfrm>
            <a:off x="2000250" y="1208097"/>
            <a:ext cx="5760720" cy="22288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70" dirty="0">
                <a:solidFill>
                  <a:srgbClr val="78909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结构性错配非投机泡沫，差异化应对是关键</a:t>
            </a:r>
            <a:endParaRPr lang="en-US" sz="1170" dirty="0"/>
          </a:p>
        </p:txBody>
      </p:sp>
      <p:sp>
        <p:nvSpPr>
          <p:cNvPr id="9" name="Shape 5"/>
          <p:cNvSpPr/>
          <p:nvPr/>
        </p:nvSpPr>
        <p:spPr>
          <a:xfrm>
            <a:off x="571500" y="2105978"/>
            <a:ext cx="2514600" cy="1522422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6"/>
          <p:cNvSpPr/>
          <p:nvPr/>
        </p:nvSpPr>
        <p:spPr>
          <a:xfrm>
            <a:off x="571500" y="2105978"/>
            <a:ext cx="2503170" cy="1499565"/>
          </a:xfrm>
          <a:prstGeom prst="rect">
            <a:avLst/>
          </a:prstGeom>
          <a:gradFill rotWithShape="1">
            <a:gsLst>
              <a:gs pos="0">
                <a:srgbClr val="E53935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7"/>
          <p:cNvSpPr/>
          <p:nvPr/>
        </p:nvSpPr>
        <p:spPr>
          <a:xfrm>
            <a:off x="805815" y="2351723"/>
            <a:ext cx="2291486" cy="914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9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CORE CONCLUSION</a:t>
            </a:r>
            <a:endParaRPr lang="en-US" sz="585" dirty="0"/>
          </a:p>
        </p:txBody>
      </p:sp>
      <p:sp>
        <p:nvSpPr>
          <p:cNvPr id="12" name="Text 8"/>
          <p:cNvSpPr/>
          <p:nvPr/>
        </p:nvSpPr>
        <p:spPr>
          <a:xfrm>
            <a:off x="805815" y="2557463"/>
            <a:ext cx="2291486" cy="2286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核心结论</a:t>
            </a:r>
            <a:endParaRPr lang="en-US" sz="1260" dirty="0"/>
          </a:p>
        </p:txBody>
      </p:sp>
      <p:sp>
        <p:nvSpPr>
          <p:cNvPr id="13" name="Text 9"/>
          <p:cNvSpPr/>
          <p:nvPr/>
        </p:nvSpPr>
        <p:spPr>
          <a:xfrm>
            <a:off x="805815" y="2900363"/>
            <a:ext cx="2291486" cy="493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72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基础设施与供给刚性错配是本轮暴涨主因。库存周期与资本开支共振，推动行业进入非典型上行阶段。</a:t>
            </a:r>
            <a:endParaRPr lang="en-US" sz="720" dirty="0"/>
          </a:p>
        </p:txBody>
      </p:sp>
      <p:sp>
        <p:nvSpPr>
          <p:cNvPr id="14" name="Shape 10"/>
          <p:cNvSpPr/>
          <p:nvPr/>
        </p:nvSpPr>
        <p:spPr>
          <a:xfrm>
            <a:off x="3314700" y="2105978"/>
            <a:ext cx="2514600" cy="1522422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1"/>
          <p:cNvSpPr/>
          <p:nvPr/>
        </p:nvSpPr>
        <p:spPr>
          <a:xfrm>
            <a:off x="3314700" y="2105978"/>
            <a:ext cx="2503170" cy="1499565"/>
          </a:xfrm>
          <a:prstGeom prst="rect">
            <a:avLst/>
          </a:prstGeom>
          <a:gradFill rotWithShape="1">
            <a:gsLst>
              <a:gs pos="0">
                <a:srgbClr val="E53935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2"/>
          <p:cNvSpPr/>
          <p:nvPr/>
        </p:nvSpPr>
        <p:spPr>
          <a:xfrm>
            <a:off x="3549015" y="2351723"/>
            <a:ext cx="2291486" cy="914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9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TREND JUDGMENT</a:t>
            </a:r>
            <a:endParaRPr lang="en-US" sz="585" dirty="0"/>
          </a:p>
        </p:txBody>
      </p:sp>
      <p:sp>
        <p:nvSpPr>
          <p:cNvPr id="17" name="Text 13"/>
          <p:cNvSpPr/>
          <p:nvPr/>
        </p:nvSpPr>
        <p:spPr>
          <a:xfrm>
            <a:off x="3549015" y="2557463"/>
            <a:ext cx="2291486" cy="2286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趋势判断</a:t>
            </a:r>
            <a:endParaRPr lang="en-US" sz="1260" dirty="0"/>
          </a:p>
        </p:txBody>
      </p:sp>
      <p:sp>
        <p:nvSpPr>
          <p:cNvPr id="18" name="Text 14"/>
          <p:cNvSpPr/>
          <p:nvPr/>
        </p:nvSpPr>
        <p:spPr>
          <a:xfrm>
            <a:off x="3549015" y="2900363"/>
            <a:ext cx="2291486" cy="493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72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Q2-Q3 见顶，2027 加速回落，2028 供需平衡。价格弹性将显著收窄，市场从总量博弈转向结构性分化。</a:t>
            </a:r>
            <a:endParaRPr lang="en-US" sz="720" dirty="0"/>
          </a:p>
        </p:txBody>
      </p:sp>
      <p:sp>
        <p:nvSpPr>
          <p:cNvPr id="19" name="Shape 15"/>
          <p:cNvSpPr/>
          <p:nvPr/>
        </p:nvSpPr>
        <p:spPr>
          <a:xfrm>
            <a:off x="6057900" y="2105978"/>
            <a:ext cx="2514600" cy="1522422"/>
          </a:xfrm>
          <a:prstGeom prst="rect">
            <a:avLst/>
          </a:prstGeom>
          <a:solidFill>
            <a:srgbClr val="FFFFFF">
              <a:alpha val="3000"/>
            </a:srgbClr>
          </a:solidFill>
          <a:ln w="17145">
            <a:solidFill>
              <a:srgbClr val="E5393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6"/>
          <p:cNvSpPr/>
          <p:nvPr/>
        </p:nvSpPr>
        <p:spPr>
          <a:xfrm>
            <a:off x="6057900" y="2105978"/>
            <a:ext cx="2503170" cy="1499565"/>
          </a:xfrm>
          <a:prstGeom prst="rect">
            <a:avLst/>
          </a:prstGeom>
          <a:gradFill rotWithShape="1">
            <a:gsLst>
              <a:gs pos="0">
                <a:srgbClr val="E53935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7"/>
          <p:cNvSpPr/>
          <p:nvPr/>
        </p:nvSpPr>
        <p:spPr>
          <a:xfrm>
            <a:off x="6292215" y="2351723"/>
            <a:ext cx="2291486" cy="9144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85" kern="0" spc="90" dirty="0">
                <a:solidFill>
                  <a:srgbClr val="C9A9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INVESTMENT INSIGHT</a:t>
            </a:r>
            <a:endParaRPr lang="en-US" sz="585" dirty="0"/>
          </a:p>
        </p:txBody>
      </p:sp>
      <p:sp>
        <p:nvSpPr>
          <p:cNvPr id="22" name="Text 18"/>
          <p:cNvSpPr/>
          <p:nvPr/>
        </p:nvSpPr>
        <p:spPr>
          <a:xfrm>
            <a:off x="6292215" y="2557463"/>
            <a:ext cx="2291486" cy="2286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投资启示</a:t>
            </a:r>
            <a:endParaRPr lang="en-US" sz="1260" dirty="0"/>
          </a:p>
        </p:txBody>
      </p:sp>
      <p:sp>
        <p:nvSpPr>
          <p:cNvPr id="23" name="Text 19"/>
          <p:cNvSpPr/>
          <p:nvPr/>
        </p:nvSpPr>
        <p:spPr>
          <a:xfrm>
            <a:off x="6292215" y="2900363"/>
            <a:ext cx="2291486" cy="4937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72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关注 HBM 产业链龙头，警惕 PC 渠道库存风险。配置逻辑应聚焦高壁垒环节，规避纯价格博弈型标的。</a:t>
            </a:r>
            <a:endParaRPr lang="en-US" sz="720" dirty="0"/>
          </a:p>
        </p:txBody>
      </p:sp>
      <p:sp>
        <p:nvSpPr>
          <p:cNvPr id="24" name="Shape 20"/>
          <p:cNvSpPr/>
          <p:nvPr/>
        </p:nvSpPr>
        <p:spPr>
          <a:xfrm>
            <a:off x="571500" y="4303395"/>
            <a:ext cx="8001000" cy="411480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1"/>
          <p:cNvSpPr/>
          <p:nvPr/>
        </p:nvSpPr>
        <p:spPr>
          <a:xfrm>
            <a:off x="571500" y="4714875"/>
            <a:ext cx="8001000" cy="0"/>
          </a:xfrm>
          <a:prstGeom prst="line">
            <a:avLst/>
          </a:prstGeom>
          <a:noFill/>
          <a:ln w="5715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2"/>
          <p:cNvSpPr/>
          <p:nvPr/>
        </p:nvSpPr>
        <p:spPr>
          <a:xfrm>
            <a:off x="571500" y="4303395"/>
            <a:ext cx="998525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45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报告生成时间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571500" y="4446270"/>
            <a:ext cx="998525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1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年 4 月 23 日</a:t>
            </a:r>
            <a:endParaRPr lang="en-US" sz="810" dirty="0"/>
          </a:p>
        </p:txBody>
      </p:sp>
      <p:sp>
        <p:nvSpPr>
          <p:cNvPr id="28" name="Text 24"/>
          <p:cNvSpPr/>
          <p:nvPr/>
        </p:nvSpPr>
        <p:spPr>
          <a:xfrm>
            <a:off x="3689033" y="4303395"/>
            <a:ext cx="1920240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540" kern="0" spc="45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数据源</a:t>
            </a:r>
            <a:endParaRPr lang="en-US" sz="540" dirty="0"/>
          </a:p>
        </p:txBody>
      </p:sp>
      <p:sp>
        <p:nvSpPr>
          <p:cNvPr id="29" name="Text 25"/>
          <p:cNvSpPr/>
          <p:nvPr/>
        </p:nvSpPr>
        <p:spPr>
          <a:xfrm>
            <a:off x="3689033" y="4446270"/>
            <a:ext cx="1920240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81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China Flash Market (1835 条记录)</a:t>
            </a:r>
            <a:endParaRPr lang="en-US" sz="810" dirty="0"/>
          </a:p>
        </p:txBody>
      </p:sp>
      <p:sp>
        <p:nvSpPr>
          <p:cNvPr id="30" name="Text 26"/>
          <p:cNvSpPr/>
          <p:nvPr/>
        </p:nvSpPr>
        <p:spPr>
          <a:xfrm>
            <a:off x="7629525" y="4303395"/>
            <a:ext cx="1056132" cy="9715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r">
              <a:buNone/>
            </a:pPr>
            <a:r>
              <a:rPr lang="en-US" sz="540" kern="0" spc="45" dirty="0">
                <a:solidFill>
                  <a:srgbClr val="7890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预测范围</a:t>
            </a:r>
            <a:endParaRPr lang="en-US" sz="540" dirty="0"/>
          </a:p>
        </p:txBody>
      </p:sp>
      <p:sp>
        <p:nvSpPr>
          <p:cNvPr id="31" name="Text 27"/>
          <p:cNvSpPr/>
          <p:nvPr/>
        </p:nvSpPr>
        <p:spPr>
          <a:xfrm>
            <a:off x="7629525" y="4446270"/>
            <a:ext cx="1056132" cy="14859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Q2 - 2027 Q2</a:t>
            </a:r>
            <a:endParaRPr lang="en-US" sz="810" dirty="0"/>
          </a:p>
        </p:txBody>
      </p:sp>
      <p:sp>
        <p:nvSpPr>
          <p:cNvPr id="32" name="Text 28"/>
          <p:cNvSpPr/>
          <p:nvPr/>
        </p:nvSpPr>
        <p:spPr>
          <a:xfrm>
            <a:off x="571500" y="4714875"/>
            <a:ext cx="8961120" cy="8572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540" kern="0" spc="90" dirty="0">
                <a:solidFill>
                  <a:srgbClr val="FFFFFF">
                    <a:alpha val="3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 CYCLE JUDGMENT · END PAGE</a:t>
            </a:r>
            <a:endParaRPr lang="en-US" sz="5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1502</Words>
  <Application>Microsoft Office PowerPoint</Application>
  <PresentationFormat>全屏显示(16:9)</PresentationFormat>
  <Paragraphs>536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Inter</vt:lpstr>
      <vt:lpstr>Noto Sans SC</vt:lpstr>
      <vt:lpstr>Noto Serif SC</vt:lpstr>
      <vt:lpstr>Source Sans 3</vt:lpstr>
      <vt:lpstr>Arial</vt:lpstr>
      <vt:lpstr>Lato</vt:lpstr>
      <vt:lpstr>Playfair Display</vt:lpstr>
      <vt:lpstr>Roboto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博 王</cp:lastModifiedBy>
  <cp:revision>3</cp:revision>
  <dcterms:created xsi:type="dcterms:W3CDTF">2026-04-26T03:56:48Z</dcterms:created>
  <dcterms:modified xsi:type="dcterms:W3CDTF">2026-04-26T05:16:48Z</dcterms:modified>
</cp:coreProperties>
</file>